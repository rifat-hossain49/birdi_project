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fd9e4c32174e67" /><Relationship Type="http://schemas.openxmlformats.org/officeDocument/2006/relationships/extended-properties" Target="/docProps/app.xml" Id="Rb9a47a285e5645ae" /><Relationship Type="http://schemas.openxmlformats.org/officeDocument/2006/relationships/officeDocument" Target="/ppt/presentation.xml" Id="Ra149f65443ea40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d342a6971d494f"/>
  </p:sldMasterIdLst>
  <p:notesMasterIdLst>
    <p:notesMasterId xmlns:r="http://schemas.openxmlformats.org/officeDocument/2006/relationships" r:id="Rf6d24633a46f4fb9"/>
  </p:notesMasterIdLst>
  <p:sldIdLst>
    <p:sldId xmlns:r="http://schemas.openxmlformats.org/officeDocument/2006/relationships" id="256" r:id="Rec7d8a1a4c654602"/>
    <p:sldId xmlns:r="http://schemas.openxmlformats.org/officeDocument/2006/relationships" id="257" r:id="R1ce6a4e819c440e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d342a6971d494f" /><Relationship Type="http://schemas.openxmlformats.org/officeDocument/2006/relationships/theme" Target="/ppt/theme/theme1.xml" Id="R1ec3cbf7fa794ba5" /><Relationship Type="http://schemas.openxmlformats.org/officeDocument/2006/relationships/notesMaster" Target="/ppt/notesMasters/notesMaster1.xml" Id="Rf6d24633a46f4fb9" /><Relationship Type="http://schemas.openxmlformats.org/officeDocument/2006/relationships/presProps" Target="/ppt/presProps.xml" Id="R23db92e736b64163" /><Relationship Type="http://schemas.openxmlformats.org/officeDocument/2006/relationships/viewProps" Target="/ppt/viewProps.xml" Id="Rebed192f334b47e2" /><Relationship Type="http://schemas.openxmlformats.org/officeDocument/2006/relationships/tableStyles" Target="/ppt/tableStyles.xml" Id="Re2df766322334b85" /><Relationship Type="http://schemas.openxmlformats.org/officeDocument/2006/relationships/slide" Target="/ppt/slides/slide1.xml" Id="Rec7d8a1a4c654602" /><Relationship Type="http://schemas.openxmlformats.org/officeDocument/2006/relationships/slide" Target="/ppt/slides/slide2.xml" Id="R1ce6a4e819c440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8b3264fe57949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c63e2c329344d1" /><Relationship Type="http://schemas.openxmlformats.org/officeDocument/2006/relationships/notesMaster" Target="/ppt/notesMasters/notesMaster1.xml" Id="R65e1d60ca9a045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3db533dee84fd9" /><Relationship Type="http://schemas.openxmlformats.org/officeDocument/2006/relationships/notesMaster" Target="/ppt/notesMasters/notesMaster1.xml" Id="Re1462a3f765240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ac6c5f6d504fb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04f1cf7c59945ce" /><Relationship Type="http://schemas.openxmlformats.org/officeDocument/2006/relationships/slideLayout" Target="/ppt/slideLayouts/slideLayout2.xml" Id="Rc77b1b525e4f42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7b1b525e4f42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bf86042c6242c6" /><Relationship Type="http://schemas.openxmlformats.org/officeDocument/2006/relationships/image" Target="/ppt/media/image.png" Id="Rda2f5be5e87a40ed" /><Relationship Type="http://schemas.openxmlformats.org/officeDocument/2006/relationships/image" Target="/ppt/media/image.svg" Id="R5fa106de30c8442f" /><Relationship Type="http://schemas.openxmlformats.org/officeDocument/2006/relationships/image" Target="/ppt/media/image2.png" Id="Rab67f37489354459" /><Relationship Type="http://schemas.openxmlformats.org/officeDocument/2006/relationships/image" Target="/ppt/media/image2.svg" Id="R7b35767161cf4321" /><Relationship Type="http://schemas.openxmlformats.org/officeDocument/2006/relationships/image" Target="/ppt/media/image3.png" Id="Rf2fce8f6dc944460" /><Relationship Type="http://schemas.openxmlformats.org/officeDocument/2006/relationships/image" Target="/ppt/media/image3.svg" Id="R84616773b21f41b8" /><Relationship Type="http://schemas.openxmlformats.org/officeDocument/2006/relationships/image" Target="/ppt/media/image4.png" Id="R5c3e1458880b460a" /><Relationship Type="http://schemas.openxmlformats.org/officeDocument/2006/relationships/image" Target="/ppt/media/image4.svg" Id="Ree519e887b3f49d9" /><Relationship Type="http://schemas.openxmlformats.org/officeDocument/2006/relationships/image" Target="/ppt/media/image5.png" Id="R915fa2b526154fe2" /><Relationship Type="http://schemas.openxmlformats.org/officeDocument/2006/relationships/image" Target="/ppt/media/image5.svg" Id="Rd8f3aad72c174dba" /><Relationship Type="http://schemas.openxmlformats.org/officeDocument/2006/relationships/notesSlide" Target="/ppt/notesSlides/notesSlide1.xml" Id="Rfa751742cce140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f439fb22114f11" /><Relationship Type="http://schemas.openxmlformats.org/officeDocument/2006/relationships/image" Target="/ppt/media/image6.png" Id="R93425222d73a4a96" /><Relationship Type="http://schemas.openxmlformats.org/officeDocument/2006/relationships/image" Target="/ppt/media/image6.svg" Id="Rf553974105ad43e2" /><Relationship Type="http://schemas.openxmlformats.org/officeDocument/2006/relationships/image" Target="/ppt/media/image7.png" Id="Rb40c9e58b5f6438b" /><Relationship Type="http://schemas.openxmlformats.org/officeDocument/2006/relationships/image" Target="/ppt/media/image7.svg" Id="Ra8923e792cc74930" /><Relationship Type="http://schemas.openxmlformats.org/officeDocument/2006/relationships/image" Target="/ppt/media/image8.png" Id="R3f86f23a075d47c0" /><Relationship Type="http://schemas.openxmlformats.org/officeDocument/2006/relationships/image" Target="/ppt/media/image8.svg" Id="R8335b94301854c2e" /><Relationship Type="http://schemas.openxmlformats.org/officeDocument/2006/relationships/image" Target="/ppt/media/image9.png" Id="R758294931fe54144" /><Relationship Type="http://schemas.openxmlformats.org/officeDocument/2006/relationships/image" Target="/ppt/media/image9.svg" Id="Rc9b9fd9bb80f4d37" /><Relationship Type="http://schemas.openxmlformats.org/officeDocument/2006/relationships/image" Target="/ppt/media/image10.png" Id="R400ad890873b4c45" /><Relationship Type="http://schemas.openxmlformats.org/officeDocument/2006/relationships/image" Target="/ppt/media/image10.svg" Id="Rc1ee4ab1f6fb47a8" /><Relationship Type="http://schemas.openxmlformats.org/officeDocument/2006/relationships/image" Target="/ppt/media/image11.png" Id="R2bd236f1732645ce" /><Relationship Type="http://schemas.openxmlformats.org/officeDocument/2006/relationships/image" Target="/ppt/media/image11.svg" Id="R6b1cfce83d4b49c4" /><Relationship Type="http://schemas.openxmlformats.org/officeDocument/2006/relationships/image" Target="/ppt/media/image12.png" Id="R56566c7b89284435" /><Relationship Type="http://schemas.openxmlformats.org/officeDocument/2006/relationships/image" Target="/ppt/media/image12.svg" Id="R6495fff8c5d74d8c" /><Relationship Type="http://schemas.openxmlformats.org/officeDocument/2006/relationships/image" Target="/ppt/media/image13.png" Id="R8e1cd087a22c4ab2" /><Relationship Type="http://schemas.openxmlformats.org/officeDocument/2006/relationships/image" Target="/ppt/media/image13.svg" Id="R996d79de01d34eea" /><Relationship Type="http://schemas.openxmlformats.org/officeDocument/2006/relationships/image" Target="/ppt/media/image14.png" Id="R5ec15bde4ce6402b" /><Relationship Type="http://schemas.openxmlformats.org/officeDocument/2006/relationships/image" Target="/ppt/media/image14.svg" Id="R4d1287a93ec74dbd" /><Relationship Type="http://schemas.openxmlformats.org/officeDocument/2006/relationships/image" Target="/ppt/media/image15.png" Id="Rea7465bae74f4554" /><Relationship Type="http://schemas.openxmlformats.org/officeDocument/2006/relationships/image" Target="/ppt/media/image15.svg" Id="Rdd3a7e049f2e4647" /><Relationship Type="http://schemas.openxmlformats.org/officeDocument/2006/relationships/image" Target="/ppt/media/image16.png" Id="R7f77ab1fdd8b424d" /><Relationship Type="http://schemas.openxmlformats.org/officeDocument/2006/relationships/image" Target="/ppt/media/image16.svg" Id="R3702476fb7b7498e" /><Relationship Type="http://schemas.openxmlformats.org/officeDocument/2006/relationships/notesSlide" Target="/ppt/notesSlides/notesSlide2.xml" Id="Reb1f3183d3614a5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3ED0279B-ED15-4C45-9289-0AAF163D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F7F8FA"/>
            </a:solidFill>
            <a:prstDash val="solid"/>
          </a:ln>
        </p:spPr>
      </p:sp>
      <p:sp>
        <p:nvSpPr>
          <p:cNvPr id="2" name="beamer-headline">
            <a:extLst xmlns:a="http://schemas.openxmlformats.org/drawingml/2006/main">
              <a:ext uri="{FF2B5EF4-FFF2-40B4-BE49-F238E27FC236}">
                <a16:creationId xmlns:a16="http://schemas.microsoft.com/office/drawing/2014/main" id="{8F73AA3D-505F-48A7-86E6-B09F624F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63"/>
          </a:solidFill>
          <a:ln xmlns:a="http://schemas.openxmlformats.org/drawingml/2006/main" w="0">
            <a:solidFill>
              <a:srgbClr val="173B63"/>
            </a:solidFill>
            <a:prstDash val="solid"/>
          </a:ln>
        </p:spPr>
      </p:sp>
      <p:sp>
        <p:nvSpPr>
          <p:cNvPr id="3" name="headline-project">
            <a:extLst xmlns:a="http://schemas.openxmlformats.org/drawingml/2006/main">
              <a:ext uri="{FF2B5EF4-FFF2-40B4-BE49-F238E27FC236}">
                <a16:creationId xmlns:a16="http://schemas.microsoft.com/office/drawing/2014/main" id="{27A00B80-9964-4D2A-927F-3E536789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050"/>
            <a:ext cx="24765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BIRDI RESEARCH</a:t>
            </a:r>
          </a:p>
        </p:txBody>
      </p:sp>
      <p:sp>
        <p:nvSpPr>
          <p:cNvPr id="4" name="nav-Evolution">
            <a:extLst xmlns:a="http://schemas.openxmlformats.org/drawingml/2006/main">
              <a:ext uri="{FF2B5EF4-FFF2-40B4-BE49-F238E27FC236}">
                <a16:creationId xmlns:a16="http://schemas.microsoft.com/office/drawing/2014/main" id="{6E9328E0-BF79-42A5-837C-9FE00550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0"/>
            <a:ext cx="952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A91"/>
          </a:solidFill>
          <a:ln xmlns:a="http://schemas.openxmlformats.org/drawingml/2006/main" w="0">
            <a:solidFill>
              <a:srgbClr val="275A91"/>
            </a:solidFill>
            <a:prstDash val="solid"/>
          </a:ln>
        </p:spPr>
      </p:sp>
      <p:sp>
        <p:nvSpPr>
          <p:cNvPr id="5" name="nav-label-Evolution">
            <a:extLst xmlns:a="http://schemas.openxmlformats.org/drawingml/2006/main">
              <a:ext uri="{FF2B5EF4-FFF2-40B4-BE49-F238E27FC236}">
                <a16:creationId xmlns:a16="http://schemas.microsoft.com/office/drawing/2014/main" id="{7CD650EE-5834-41E2-8F00-B9B1D660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9050"/>
            <a:ext cx="9525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Evolution</a:t>
            </a:r>
          </a:p>
        </p:txBody>
      </p:sp>
      <p:sp>
        <p:nvSpPr>
          <p:cNvPr id="6" name="nav-Current System">
            <a:extLst xmlns:a="http://schemas.openxmlformats.org/drawingml/2006/main">
              <a:ext uri="{FF2B5EF4-FFF2-40B4-BE49-F238E27FC236}">
                <a16:creationId xmlns:a16="http://schemas.microsoft.com/office/drawing/2014/main" id="{AC8BAE24-3B1A-41AF-8DDB-A7D2687D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0"/>
            <a:ext cx="1219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63"/>
          </a:solidFill>
          <a:ln xmlns:a="http://schemas.openxmlformats.org/drawingml/2006/main" w="0">
            <a:solidFill>
              <a:srgbClr val="173B63"/>
            </a:solidFill>
            <a:prstDash val="solid"/>
          </a:ln>
        </p:spPr>
      </p:sp>
      <p:sp>
        <p:nvSpPr>
          <p:cNvPr id="7" name="nav-label-Current System">
            <a:extLst xmlns:a="http://schemas.openxmlformats.org/drawingml/2006/main">
              <a:ext uri="{FF2B5EF4-FFF2-40B4-BE49-F238E27FC236}">
                <a16:creationId xmlns:a16="http://schemas.microsoft.com/office/drawing/2014/main" id="{A8C0E9D1-4216-43AD-9968-ED139526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9050"/>
            <a:ext cx="12192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C8D6E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C8D6E3"/>
                </a:solidFill>
                <a:latin typeface="Aptos"/>
                <a:ea typeface="Aptos"/>
                <a:cs typeface="Aptos"/>
              </a:rPr>
              <a:t>Current System</a:t>
            </a:r>
          </a:p>
        </p:txBody>
      </p:sp>
      <p:sp>
        <p:nvSpPr>
          <p:cNvPr id="8" name="nav-Evidence">
            <a:extLst xmlns:a="http://schemas.openxmlformats.org/drawingml/2006/main">
              <a:ext uri="{FF2B5EF4-FFF2-40B4-BE49-F238E27FC236}">
                <a16:creationId xmlns:a16="http://schemas.microsoft.com/office/drawing/2014/main" id="{2B742928-8D01-4AFD-860B-9ED841A35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0"/>
            <a:ext cx="8953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63"/>
          </a:solidFill>
          <a:ln xmlns:a="http://schemas.openxmlformats.org/drawingml/2006/main" w="0">
            <a:solidFill>
              <a:srgbClr val="173B63"/>
            </a:solidFill>
            <a:prstDash val="solid"/>
          </a:ln>
        </p:spPr>
      </p:sp>
      <p:sp>
        <p:nvSpPr>
          <p:cNvPr id="9" name="nav-label-Evidence">
            <a:extLst xmlns:a="http://schemas.openxmlformats.org/drawingml/2006/main">
              <a:ext uri="{FF2B5EF4-FFF2-40B4-BE49-F238E27FC236}">
                <a16:creationId xmlns:a16="http://schemas.microsoft.com/office/drawing/2014/main" id="{DFF907C1-BD1E-4168-A5B7-B05AA877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9050"/>
            <a:ext cx="8953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C8D6E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C8D6E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0" name="nav-Next Steps">
            <a:extLst xmlns:a="http://schemas.openxmlformats.org/drawingml/2006/main">
              <a:ext uri="{FF2B5EF4-FFF2-40B4-BE49-F238E27FC236}">
                <a16:creationId xmlns:a16="http://schemas.microsoft.com/office/drawing/2014/main" id="{32641E96-33E2-4846-A8C5-94962806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0"/>
            <a:ext cx="1009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63"/>
          </a:solidFill>
          <a:ln xmlns:a="http://schemas.openxmlformats.org/drawingml/2006/main" w="0">
            <a:solidFill>
              <a:srgbClr val="173B63"/>
            </a:solidFill>
            <a:prstDash val="solid"/>
          </a:ln>
        </p:spPr>
      </p:sp>
      <p:sp>
        <p:nvSpPr>
          <p:cNvPr id="11" name="nav-label-Next Steps">
            <a:extLst xmlns:a="http://schemas.openxmlformats.org/drawingml/2006/main">
              <a:ext uri="{FF2B5EF4-FFF2-40B4-BE49-F238E27FC236}">
                <a16:creationId xmlns:a16="http://schemas.microsoft.com/office/drawing/2014/main" id="{CC9AD900-9F7E-45B7-8FF6-1249B56D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9050"/>
            <a:ext cx="10096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C8D6E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C8D6E3"/>
                </a:solidFill>
                <a:latin typeface="Aptos"/>
                <a:ea typeface="Aptos"/>
                <a:cs typeface="Aptos"/>
              </a:rPr>
              <a:t>Next Steps</a:t>
            </a:r>
          </a:p>
        </p:txBody>
      </p:sp>
      <p:sp>
        <p:nvSpPr>
          <p:cNvPr id="12" name="frame-title">
            <a:extLst xmlns:a="http://schemas.openxmlformats.org/drawingml/2006/main">
              <a:ext uri="{FF2B5EF4-FFF2-40B4-BE49-F238E27FC236}">
                <a16:creationId xmlns:a16="http://schemas.microsoft.com/office/drawing/2014/main" id="{B45760A5-DC3F-4703-A6E4-4E2441AA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1950"/>
            <a:ext cx="1114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3B6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3B63"/>
                </a:solidFill>
                <a:latin typeface="Aptos Display"/>
                <a:ea typeface="Aptos Display"/>
                <a:cs typeface="Aptos Display"/>
              </a:rPr>
              <a:t>Evolution of the BIRDI research pipeline</a:t>
            </a:r>
          </a:p>
        </p:txBody>
      </p:sp>
      <p:sp>
        <p:nvSpPr>
          <p:cNvPr id="13" name="frame-subtitle">
            <a:extLst xmlns:a="http://schemas.openxmlformats.org/drawingml/2006/main">
              <a:ext uri="{FF2B5EF4-FFF2-40B4-BE49-F238E27FC236}">
                <a16:creationId xmlns:a16="http://schemas.microsoft.com/office/drawing/2014/main" id="{0C658D5C-EAC9-4C89-9004-DFFB3AC3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52475"/>
            <a:ext cx="1104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080"/>
                </a:solidFill>
                <a:latin typeface="Aptos"/>
                <a:ea typeface="Aptos"/>
                <a:cs typeface="Aptos"/>
              </a:rPr>
              <a:t>From latent structural learning to explicit plans and executable verification</a:t>
            </a:r>
          </a:p>
        </p:txBody>
      </p:sp>
      <p:sp>
        <p:nvSpPr>
          <p:cNvPr id="14" name="frametitle-rule">
            <a:extLst xmlns:a="http://schemas.openxmlformats.org/drawingml/2006/main">
              <a:ext uri="{FF2B5EF4-FFF2-40B4-BE49-F238E27FC236}">
                <a16:creationId xmlns:a16="http://schemas.microsoft.com/office/drawing/2014/main" id="{AE6D991C-88A4-4F8E-A4E0-E4AF45A6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191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A91"/>
          </a:solidFill>
          <a:ln xmlns:a="http://schemas.openxmlformats.org/drawingml/2006/main" w="0">
            <a:solidFill>
              <a:srgbClr val="275A91"/>
            </a:solidFill>
            <a:prstDash val="solid"/>
          </a:ln>
        </p:spPr>
      </p:sp>
      <p:sp>
        <p:nvSpPr>
          <p:cNvPr id="15" name="beamer-footline">
            <a:extLst xmlns:a="http://schemas.openxmlformats.org/drawingml/2006/main">
              <a:ext uri="{FF2B5EF4-FFF2-40B4-BE49-F238E27FC236}">
                <a16:creationId xmlns:a16="http://schemas.microsoft.com/office/drawing/2014/main" id="{20992E33-0ECA-46D0-B4CD-53F8F8123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63"/>
          </a:solidFill>
          <a:ln xmlns:a="http://schemas.openxmlformats.org/drawingml/2006/main" w="0">
            <a:solidFill>
              <a:srgbClr val="173B63"/>
            </a:solidFill>
            <a:prstDash val="solid"/>
          </a:ln>
        </p:spPr>
      </p:sp>
      <p:sp>
        <p:nvSpPr>
          <p:cNvPr id="16" name="footline-left">
            <a:extLst xmlns:a="http://schemas.openxmlformats.org/drawingml/2006/main">
              <a:ext uri="{FF2B5EF4-FFF2-40B4-BE49-F238E27FC236}">
                <a16:creationId xmlns:a16="http://schemas.microsoft.com/office/drawing/2014/main" id="{66F8691E-977B-4F81-928B-E1BF8A1A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62725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BIRDI | Research evolution</a:t>
            </a:r>
          </a:p>
        </p:txBody>
      </p:sp>
      <p:sp>
        <p:nvSpPr>
          <p:cNvPr id="17" name="footline-center">
            <a:extLst xmlns:a="http://schemas.openxmlformats.org/drawingml/2006/main">
              <a:ext uri="{FF2B5EF4-FFF2-40B4-BE49-F238E27FC236}">
                <a16:creationId xmlns:a16="http://schemas.microsoft.com/office/drawing/2014/main" id="{6EF8D554-A67A-4ECF-ACFC-44B672A4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562725"/>
            <a:ext cx="676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8D6E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6E3"/>
                </a:solidFill>
                <a:latin typeface="Aptos"/>
                <a:ea typeface="Aptos"/>
                <a:cs typeface="Aptos"/>
              </a:rPr>
              <a:t>From graph-latent learning to verified RTL generation</a:t>
            </a:r>
          </a:p>
        </p:txBody>
      </p:sp>
      <p:sp>
        <p:nvSpPr>
          <p:cNvPr id="18" name="footline-page">
            <a:extLst xmlns:a="http://schemas.openxmlformats.org/drawingml/2006/main">
              <a:ext uri="{FF2B5EF4-FFF2-40B4-BE49-F238E27FC236}">
                <a16:creationId xmlns:a16="http://schemas.microsoft.com/office/drawing/2014/main" id="{70270225-B9AF-4D65-8372-ADDC84AA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62725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 / 2</a:t>
            </a:r>
          </a:p>
        </p:txBody>
      </p:sp>
      <p:sp>
        <p:nvSpPr>
          <p:cNvPr id="19" name="era-1-body">
            <a:extLst xmlns:a="http://schemas.openxmlformats.org/drawingml/2006/main">
              <a:ext uri="{FF2B5EF4-FFF2-40B4-BE49-F238E27FC236}">
                <a16:creationId xmlns:a16="http://schemas.microsoft.com/office/drawing/2014/main" id="{8754E7CA-D386-4540-904B-268035FA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28725"/>
            <a:ext cx="3429000" cy="407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C"/>
            </a:solidFill>
            <a:prstDash val="solid"/>
          </a:ln>
        </p:spPr>
      </p:sp>
      <p:sp>
        <p:nvSpPr>
          <p:cNvPr id="20" name="era-1-header">
            <a:extLst xmlns:a="http://schemas.openxmlformats.org/drawingml/2006/main">
              <a:ext uri="{FF2B5EF4-FFF2-40B4-BE49-F238E27FC236}">
                <a16:creationId xmlns:a16="http://schemas.microsoft.com/office/drawing/2014/main" id="{66A0AA70-3B94-4274-9225-551D6A66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28725"/>
            <a:ext cx="342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A91"/>
          </a:solidFill>
          <a:ln xmlns:a="http://schemas.openxmlformats.org/drawingml/2006/main" w="0">
            <a:solidFill>
              <a:srgbClr val="275A91"/>
            </a:solidFill>
            <a:prstDash val="solid"/>
          </a:ln>
        </p:spPr>
      </p:sp>
      <p:sp>
        <p:nvSpPr>
          <p:cNvPr id="21" name="era-1-title">
            <a:extLst xmlns:a="http://schemas.openxmlformats.org/drawingml/2006/main">
              <a:ext uri="{FF2B5EF4-FFF2-40B4-BE49-F238E27FC236}">
                <a16:creationId xmlns:a16="http://schemas.microsoft.com/office/drawing/2014/main" id="{389A3CAB-CD85-4B6C-8A28-45B1C84D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257300"/>
            <a:ext cx="31813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1. Graph-latent Python</a:t>
            </a:r>
          </a:p>
        </p:txBody>
      </p:sp>
      <p:sp>
        <p:nvSpPr>
          <p:cNvPr id="22" name="era-1-icon-circle">
            <a:extLst xmlns:a="http://schemas.openxmlformats.org/drawingml/2006/main">
              <a:ext uri="{FF2B5EF4-FFF2-40B4-BE49-F238E27FC236}">
                <a16:creationId xmlns:a16="http://schemas.microsoft.com/office/drawing/2014/main" id="{2327A7B0-4619-4490-ABB8-A199C8B4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6859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275A91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2f5be5e87a40ed">
            <a:extLst>
              <a:ext uri="{96DAC541-7B7A-43D3-8B79-37D633B846F1}">
                <asvg:svgBlip xmlns:asvg="http://schemas.microsoft.com/office/drawing/2016/SVG/main" r:embed="R5fa106de30c8442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76275" y="180022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24" name="era-1-representation">
            <a:extLst xmlns:a="http://schemas.openxmlformats.org/drawingml/2006/main">
              <a:ext uri="{FF2B5EF4-FFF2-40B4-BE49-F238E27FC236}">
                <a16:creationId xmlns:a16="http://schemas.microsoft.com/office/drawing/2014/main" id="{C0FE502B-69D0-4FC5-A6FD-43D96D8C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95450"/>
            <a:ext cx="2476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83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830"/>
                </a:solidFill>
                <a:latin typeface="Aptos"/>
                <a:ea typeface="Aptos"/>
                <a:cs typeface="Aptos"/>
              </a:rPr>
              <a:t>AST + state/data-flow graph latent</a:t>
            </a:r>
          </a:p>
        </p:txBody>
      </p:sp>
      <p:sp>
        <p:nvSpPr>
          <p:cNvPr id="25" name="era-1-flow-box">
            <a:extLst xmlns:a="http://schemas.openxmlformats.org/drawingml/2006/main">
              <a:ext uri="{FF2B5EF4-FFF2-40B4-BE49-F238E27FC236}">
                <a16:creationId xmlns:a16="http://schemas.microsoft.com/office/drawing/2014/main" id="{849016FB-CE91-474F-990F-FDA30151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333625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275A91"/>
            </a:solidFill>
            <a:prstDash val="solid"/>
          </a:ln>
        </p:spPr>
      </p:sp>
      <p:sp>
        <p:nvSpPr>
          <p:cNvPr id="26" name="era-1-flow">
            <a:extLst xmlns:a="http://schemas.openxmlformats.org/drawingml/2006/main">
              <a:ext uri="{FF2B5EF4-FFF2-40B4-BE49-F238E27FC236}">
                <a16:creationId xmlns:a16="http://schemas.microsoft.com/office/drawing/2014/main" id="{DF702BB0-4029-4EEB-AB30-F5C1FD81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419350"/>
            <a:ext cx="2914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02830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202830"/>
                </a:solidFill>
                <a:latin typeface="Aptos Mono"/>
                <a:ea typeface="Aptos Mono"/>
                <a:cs typeface="Aptos Mono"/>
              </a:rPr>
              <a:t>code graph -&gt; JEPA alignment -&gt; graph decoder -&gt; Python</a:t>
            </a:r>
          </a:p>
        </p:txBody>
      </p:sp>
      <p:sp>
        <p:nvSpPr>
          <p:cNvPr id="27" name="label-WHAT WE RETAINED">
            <a:extLst xmlns:a="http://schemas.openxmlformats.org/drawingml/2006/main">
              <a:ext uri="{FF2B5EF4-FFF2-40B4-BE49-F238E27FC236}">
                <a16:creationId xmlns:a16="http://schemas.microsoft.com/office/drawing/2014/main" id="{E0597FFE-9B5B-4F08-9F3D-875F54F29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0670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75A9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75A91"/>
                </a:solidFill>
                <a:latin typeface="Aptos"/>
                <a:ea typeface="Aptos"/>
                <a:cs typeface="Aptos"/>
              </a:rPr>
              <a:t>WHAT WE RETAINED</a:t>
            </a:r>
          </a:p>
        </p:txBody>
      </p:sp>
      <p:sp>
        <p:nvSpPr>
          <p:cNvPr id="28" name="era-1-learned">
            <a:extLst xmlns:a="http://schemas.openxmlformats.org/drawingml/2006/main">
              <a:ext uri="{FF2B5EF4-FFF2-40B4-BE49-F238E27FC236}">
                <a16:creationId xmlns:a16="http://schemas.microsoft.com/office/drawing/2014/main" id="{D8ED73BF-92D3-4867-B3A2-C9DB319D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295650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0"/>
                </a:solidFill>
                <a:latin typeface="Aptos"/>
                <a:ea typeface="Aptos"/>
                <a:cs typeface="Aptos"/>
              </a:rPr>
              <a:t>Structural supervision and contrastive alignment can organize problem and solution representations.</a:t>
            </a:r>
          </a:p>
        </p:txBody>
      </p:sp>
      <p:sp>
        <p:nvSpPr>
          <p:cNvPr id="29" name="label-WHY WE EVOLVED">
            <a:extLst xmlns:a="http://schemas.openxmlformats.org/drawingml/2006/main">
              <a:ext uri="{FF2B5EF4-FFF2-40B4-BE49-F238E27FC236}">
                <a16:creationId xmlns:a16="http://schemas.microsoft.com/office/drawing/2014/main" id="{B0BD78A6-0C60-4C8E-8613-CB693EFA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64B4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64B43"/>
                </a:solidFill>
                <a:latin typeface="Aptos"/>
                <a:ea typeface="Aptos"/>
                <a:cs typeface="Aptos"/>
              </a:rPr>
              <a:t>WHY WE EVOLVED</a:t>
            </a:r>
          </a:p>
        </p:txBody>
      </p:sp>
      <p:sp>
        <p:nvSpPr>
          <p:cNvPr id="30" name="era-1-failure-box">
            <a:extLst xmlns:a="http://schemas.openxmlformats.org/drawingml/2006/main">
              <a:ext uri="{FF2B5EF4-FFF2-40B4-BE49-F238E27FC236}">
                <a16:creationId xmlns:a16="http://schemas.microsoft.com/office/drawing/2014/main" id="{4F8D7ABA-DD7E-4414-840B-2AD32E0A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343400"/>
            <a:ext cx="3143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E8"/>
          </a:solidFill>
          <a:ln xmlns:a="http://schemas.openxmlformats.org/drawingml/2006/main" w="9525">
            <a:solidFill>
              <a:srgbClr val="E5B9B4"/>
            </a:solidFill>
            <a:prstDash val="solid"/>
          </a:ln>
        </p:spPr>
      </p:sp>
      <p:sp>
        <p:nvSpPr>
          <p:cNvPr id="31" name="era-1-failure">
            <a:extLst xmlns:a="http://schemas.openxmlformats.org/drawingml/2006/main">
              <a:ext uri="{FF2B5EF4-FFF2-40B4-BE49-F238E27FC236}">
                <a16:creationId xmlns:a16="http://schemas.microsoft.com/office/drawing/2014/main" id="{5A7746CE-6A3E-433E-B3D3-D407783F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448175"/>
            <a:ext cx="2914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0283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830"/>
                </a:solidFill>
                <a:latin typeface="Aptos"/>
                <a:ea typeface="Aptos"/>
                <a:cs typeface="Aptos"/>
              </a:rPr>
              <a:t>The decoder drifted semantically; small prompt changes could produce the same incorrect logic.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67f37489354459">
            <a:extLst>
              <a:ext uri="{96DAC541-7B7A-43D3-8B79-37D633B846F1}">
                <asvg:svgBlip xmlns:asvg="http://schemas.microsoft.com/office/drawing/2016/SVG/main" r:embed="R7b35767161cf432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895725" y="3038475"/>
            <a:ext cx="238125" cy="333375"/>
          </a:xfrm>
          <a:prstGeom xmlns:a="http://schemas.openxmlformats.org/drawingml/2006/main" prst="rect">
            <a:avLst/>
          </a:prstGeom>
        </p:spPr>
      </p:pic>
      <p:sp>
        <p:nvSpPr>
          <p:cNvPr id="33" name="era-2-body">
            <a:extLst xmlns:a="http://schemas.openxmlformats.org/drawingml/2006/main">
              <a:ext uri="{FF2B5EF4-FFF2-40B4-BE49-F238E27FC236}">
                <a16:creationId xmlns:a16="http://schemas.microsoft.com/office/drawing/2014/main" id="{D620C13B-18E4-4EA1-854D-1677FA6E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228725"/>
            <a:ext cx="3429000" cy="407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C"/>
            </a:solidFill>
            <a:prstDash val="solid"/>
          </a:ln>
        </p:spPr>
      </p:sp>
      <p:sp>
        <p:nvSpPr>
          <p:cNvPr id="34" name="era-2-header">
            <a:extLst xmlns:a="http://schemas.openxmlformats.org/drawingml/2006/main">
              <a:ext uri="{FF2B5EF4-FFF2-40B4-BE49-F238E27FC236}">
                <a16:creationId xmlns:a16="http://schemas.microsoft.com/office/drawing/2014/main" id="{F8E3B914-FF61-4ECC-BB8B-713823C5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228725"/>
            <a:ext cx="342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83"/>
          </a:solidFill>
          <a:ln xmlns:a="http://schemas.openxmlformats.org/drawingml/2006/main" w="0">
            <a:solidFill>
              <a:srgbClr val="238A83"/>
            </a:solidFill>
            <a:prstDash val="solid"/>
          </a:ln>
        </p:spPr>
      </p:sp>
      <p:sp>
        <p:nvSpPr>
          <p:cNvPr id="35" name="era-2-title">
            <a:extLst xmlns:a="http://schemas.openxmlformats.org/drawingml/2006/main">
              <a:ext uri="{FF2B5EF4-FFF2-40B4-BE49-F238E27FC236}">
                <a16:creationId xmlns:a16="http://schemas.microsoft.com/office/drawing/2014/main" id="{5F211165-F623-4C0D-B38B-7C849283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257300"/>
            <a:ext cx="31813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2. Typed IR + retrieval</a:t>
            </a:r>
          </a:p>
        </p:txBody>
      </p:sp>
      <p:sp>
        <p:nvSpPr>
          <p:cNvPr id="36" name="era-2-icon-circle">
            <a:extLst xmlns:a="http://schemas.openxmlformats.org/drawingml/2006/main">
              <a:ext uri="{FF2B5EF4-FFF2-40B4-BE49-F238E27FC236}">
                <a16:creationId xmlns:a16="http://schemas.microsoft.com/office/drawing/2014/main" id="{364F08A5-D5F0-4D0B-B3A2-57A7FAFA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6859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F2"/>
          </a:solidFill>
          <a:ln xmlns:a="http://schemas.openxmlformats.org/drawingml/2006/main" w="9525">
            <a:solidFill>
              <a:srgbClr val="238A83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fce8f6dc944460">
            <a:extLst>
              <a:ext uri="{96DAC541-7B7A-43D3-8B79-37D633B846F1}">
                <asvg:svgBlip xmlns:asvg="http://schemas.microsoft.com/office/drawing/2016/SVG/main" r:embed="R84616773b21f41b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29125" y="180022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38" name="era-2-representation">
            <a:extLst xmlns:a="http://schemas.openxmlformats.org/drawingml/2006/main">
              <a:ext uri="{FF2B5EF4-FFF2-40B4-BE49-F238E27FC236}">
                <a16:creationId xmlns:a16="http://schemas.microsoft.com/office/drawing/2014/main" id="{448D9599-E5BC-4C2A-9FCF-8822A30B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695450"/>
            <a:ext cx="2476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83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830"/>
                </a:solidFill>
                <a:latin typeface="Aptos"/>
                <a:ea typeface="Aptos"/>
                <a:cs typeface="Aptos"/>
              </a:rPr>
              <a:t>Compact typed algorithm DSL / IR</a:t>
            </a:r>
          </a:p>
        </p:txBody>
      </p:sp>
      <p:sp>
        <p:nvSpPr>
          <p:cNvPr id="39" name="era-2-flow-box">
            <a:extLst xmlns:a="http://schemas.openxmlformats.org/drawingml/2006/main">
              <a:ext uri="{FF2B5EF4-FFF2-40B4-BE49-F238E27FC236}">
                <a16:creationId xmlns:a16="http://schemas.microsoft.com/office/drawing/2014/main" id="{3DF57E63-D096-4667-9572-DFC36D2A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333625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2"/>
          </a:solidFill>
          <a:ln xmlns:a="http://schemas.openxmlformats.org/drawingml/2006/main" w="9525">
            <a:solidFill>
              <a:srgbClr val="238A83"/>
            </a:solidFill>
            <a:prstDash val="solid"/>
          </a:ln>
        </p:spPr>
      </p:sp>
      <p:sp>
        <p:nvSpPr>
          <p:cNvPr id="40" name="era-2-flow">
            <a:extLst xmlns:a="http://schemas.openxmlformats.org/drawingml/2006/main">
              <a:ext uri="{FF2B5EF4-FFF2-40B4-BE49-F238E27FC236}">
                <a16:creationId xmlns:a16="http://schemas.microsoft.com/office/drawing/2014/main" id="{44D1DC52-F9C3-4094-BD1C-AB9B0D45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19350"/>
            <a:ext cx="2914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02830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202830"/>
                </a:solidFill>
                <a:latin typeface="Aptos Mono"/>
                <a:ea typeface="Aptos Mono"/>
                <a:cs typeface="Aptos Mono"/>
              </a:rPr>
              <a:t>JEPA latent -&gt; top-k IR -&gt; CodeT5+ repair -&gt; compiler</a:t>
            </a:r>
          </a:p>
        </p:txBody>
      </p:sp>
      <p:sp>
        <p:nvSpPr>
          <p:cNvPr id="41" name="label-WHAT WE RETAINED">
            <a:extLst xmlns:a="http://schemas.openxmlformats.org/drawingml/2006/main">
              <a:ext uri="{FF2B5EF4-FFF2-40B4-BE49-F238E27FC236}">
                <a16:creationId xmlns:a16="http://schemas.microsoft.com/office/drawing/2014/main" id="{77359A55-44CB-46EE-B244-D0D5E6A4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0670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38A8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38A83"/>
                </a:solidFill>
                <a:latin typeface="Aptos"/>
                <a:ea typeface="Aptos"/>
                <a:cs typeface="Aptos"/>
              </a:rPr>
              <a:t>WHAT WE RETAINED</a:t>
            </a:r>
          </a:p>
        </p:txBody>
      </p:sp>
      <p:sp>
        <p:nvSpPr>
          <p:cNvPr id="42" name="era-2-learned">
            <a:extLst xmlns:a="http://schemas.openxmlformats.org/drawingml/2006/main">
              <a:ext uri="{FF2B5EF4-FFF2-40B4-BE49-F238E27FC236}">
                <a16:creationId xmlns:a16="http://schemas.microsoft.com/office/drawing/2014/main" id="{67BB7AA1-EE3B-4B0A-9988-3D5D360E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295650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0"/>
                </a:solidFill>
                <a:latin typeface="Aptos"/>
                <a:ea typeface="Aptos"/>
                <a:cs typeface="Aptos"/>
              </a:rPr>
              <a:t>An explicit target made retrieval, repair, and final code generation separately diagnosable.</a:t>
            </a:r>
          </a:p>
        </p:txBody>
      </p:sp>
      <p:sp>
        <p:nvSpPr>
          <p:cNvPr id="43" name="label-WHY WE EVOLVED">
            <a:extLst xmlns:a="http://schemas.openxmlformats.org/drawingml/2006/main">
              <a:ext uri="{FF2B5EF4-FFF2-40B4-BE49-F238E27FC236}">
                <a16:creationId xmlns:a16="http://schemas.microsoft.com/office/drawing/2014/main" id="{A193F2F4-62DE-4F37-9FF4-D17329E1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0957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64B4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64B43"/>
                </a:solidFill>
                <a:latin typeface="Aptos"/>
                <a:ea typeface="Aptos"/>
                <a:cs typeface="Aptos"/>
              </a:rPr>
              <a:t>WHY WE EVOLVED</a:t>
            </a:r>
          </a:p>
        </p:txBody>
      </p:sp>
      <p:sp>
        <p:nvSpPr>
          <p:cNvPr id="44" name="era-2-failure-box">
            <a:extLst xmlns:a="http://schemas.openxmlformats.org/drawingml/2006/main">
              <a:ext uri="{FF2B5EF4-FFF2-40B4-BE49-F238E27FC236}">
                <a16:creationId xmlns:a16="http://schemas.microsoft.com/office/drawing/2014/main" id="{E1D13013-C366-467B-9111-9C354C0A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343400"/>
            <a:ext cx="3143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E8"/>
          </a:solidFill>
          <a:ln xmlns:a="http://schemas.openxmlformats.org/drawingml/2006/main" w="9525">
            <a:solidFill>
              <a:srgbClr val="E5B9B4"/>
            </a:solidFill>
            <a:prstDash val="solid"/>
          </a:ln>
        </p:spPr>
      </p:sp>
      <p:sp>
        <p:nvSpPr>
          <p:cNvPr id="45" name="era-2-failure">
            <a:extLst xmlns:a="http://schemas.openxmlformats.org/drawingml/2006/main">
              <a:ext uri="{FF2B5EF4-FFF2-40B4-BE49-F238E27FC236}">
                <a16:creationId xmlns:a16="http://schemas.microsoft.com/office/drawing/2014/main" id="{5C65120A-011B-4117-AB92-A3843391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448175"/>
            <a:ext cx="2914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0283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830"/>
                </a:solidFill>
                <a:latin typeface="Aptos"/>
                <a:ea typeface="Aptos"/>
                <a:cs typeface="Aptos"/>
              </a:rPr>
              <a:t>Algorithm composition remained limited when prototypes and repair training lacked the needed variation.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3e1458880b460a">
            <a:extLst>
              <a:ext uri="{96DAC541-7B7A-43D3-8B79-37D633B846F1}">
                <asvg:svgBlip xmlns:asvg="http://schemas.microsoft.com/office/drawing/2016/SVG/main" r:embed="Ree519e887b3f49d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48575" y="3038475"/>
            <a:ext cx="238125" cy="333375"/>
          </a:xfrm>
          <a:prstGeom xmlns:a="http://schemas.openxmlformats.org/drawingml/2006/main" prst="rect">
            <a:avLst/>
          </a:prstGeom>
        </p:spPr>
      </p:pic>
      <p:sp>
        <p:nvSpPr>
          <p:cNvPr id="47" name="era-3-body">
            <a:extLst xmlns:a="http://schemas.openxmlformats.org/drawingml/2006/main">
              <a:ext uri="{FF2B5EF4-FFF2-40B4-BE49-F238E27FC236}">
                <a16:creationId xmlns:a16="http://schemas.microsoft.com/office/drawing/2014/main" id="{8EA0610C-B7E8-45F0-A06A-A020E4E3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228725"/>
            <a:ext cx="3429000" cy="407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C"/>
            </a:solidFill>
            <a:prstDash val="solid"/>
          </a:ln>
        </p:spPr>
      </p:sp>
      <p:sp>
        <p:nvSpPr>
          <p:cNvPr id="48" name="era-3-header">
            <a:extLst xmlns:a="http://schemas.openxmlformats.org/drawingml/2006/main">
              <a:ext uri="{FF2B5EF4-FFF2-40B4-BE49-F238E27FC236}">
                <a16:creationId xmlns:a16="http://schemas.microsoft.com/office/drawing/2014/main" id="{F802A802-96A7-477E-98DE-A28B9DF2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228725"/>
            <a:ext cx="342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D4A"/>
          </a:solidFill>
          <a:ln xmlns:a="http://schemas.openxmlformats.org/drawingml/2006/main" w="0">
            <a:solidFill>
              <a:srgbClr val="3E7D4A"/>
            </a:solidFill>
            <a:prstDash val="solid"/>
          </a:ln>
        </p:spPr>
      </p:sp>
      <p:sp>
        <p:nvSpPr>
          <p:cNvPr id="49" name="era-3-title">
            <a:extLst xmlns:a="http://schemas.openxmlformats.org/drawingml/2006/main">
              <a:ext uri="{FF2B5EF4-FFF2-40B4-BE49-F238E27FC236}">
                <a16:creationId xmlns:a16="http://schemas.microsoft.com/office/drawing/2014/main" id="{C821B090-E3AA-436F-8014-5DAAA101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257300"/>
            <a:ext cx="31813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3. Verified RTL agents</a:t>
            </a:r>
          </a:p>
        </p:txBody>
      </p:sp>
      <p:sp>
        <p:nvSpPr>
          <p:cNvPr id="50" name="era-3-icon-circle">
            <a:extLst xmlns:a="http://schemas.openxmlformats.org/drawingml/2006/main">
              <a:ext uri="{FF2B5EF4-FFF2-40B4-BE49-F238E27FC236}">
                <a16:creationId xmlns:a16="http://schemas.microsoft.com/office/drawing/2014/main" id="{F14D8742-E54B-45AD-B384-AAD22E42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16859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EC"/>
          </a:solidFill>
          <a:ln xmlns:a="http://schemas.openxmlformats.org/drawingml/2006/main" w="9525">
            <a:solidFill>
              <a:srgbClr val="3E7D4A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5fa2b526154fe2">
            <a:extLst>
              <a:ext uri="{96DAC541-7B7A-43D3-8B79-37D633B846F1}">
                <asvg:svgBlip xmlns:asvg="http://schemas.microsoft.com/office/drawing/2016/SVG/main" r:embed="Rd8f3aad72c174db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181975" y="180022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52" name="era-3-representation">
            <a:extLst xmlns:a="http://schemas.openxmlformats.org/drawingml/2006/main">
              <a:ext uri="{FF2B5EF4-FFF2-40B4-BE49-F238E27FC236}">
                <a16:creationId xmlns:a16="http://schemas.microsoft.com/office/drawing/2014/main" id="{3A0670E1-CFFE-4E9A-96FD-74B5A356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95450"/>
            <a:ext cx="2476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83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830"/>
                </a:solidFill>
                <a:latin typeface="Aptos"/>
                <a:ea typeface="Aptos"/>
                <a:cs typeface="Aptos"/>
              </a:rPr>
              <a:t>Verilog + executable oracle evidence</a:t>
            </a:r>
          </a:p>
        </p:txBody>
      </p:sp>
      <p:sp>
        <p:nvSpPr>
          <p:cNvPr id="53" name="era-3-flow-box">
            <a:extLst xmlns:a="http://schemas.openxmlformats.org/drawingml/2006/main">
              <a:ext uri="{FF2B5EF4-FFF2-40B4-BE49-F238E27FC236}">
                <a16:creationId xmlns:a16="http://schemas.microsoft.com/office/drawing/2014/main" id="{3E53785C-12E1-43BB-BE0C-E70ACC04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333625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C"/>
          </a:solidFill>
          <a:ln xmlns:a="http://schemas.openxmlformats.org/drawingml/2006/main" w="9525">
            <a:solidFill>
              <a:srgbClr val="3E7D4A"/>
            </a:solidFill>
            <a:prstDash val="solid"/>
          </a:ln>
        </p:spPr>
      </p:sp>
      <p:sp>
        <p:nvSpPr>
          <p:cNvPr id="54" name="era-3-flow">
            <a:extLst xmlns:a="http://schemas.openxmlformats.org/drawingml/2006/main">
              <a:ext uri="{FF2B5EF4-FFF2-40B4-BE49-F238E27FC236}">
                <a16:creationId xmlns:a16="http://schemas.microsoft.com/office/drawing/2014/main" id="{2E3E7B5E-2828-40C8-B856-9B99A9C2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419350"/>
            <a:ext cx="2914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02830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202830"/>
                </a:solidFill>
                <a:latin typeface="Aptos Mono"/>
                <a:ea typeface="Aptos Mono"/>
                <a:cs typeface="Aptos Mono"/>
              </a:rPr>
              <a:t>RTL -&gt; generated tests -&gt; Icarus -&gt; repair -&gt; benchmark</a:t>
            </a:r>
          </a:p>
        </p:txBody>
      </p:sp>
      <p:sp>
        <p:nvSpPr>
          <p:cNvPr id="55" name="label-WHAT WE RETAINED">
            <a:extLst xmlns:a="http://schemas.openxmlformats.org/drawingml/2006/main">
              <a:ext uri="{FF2B5EF4-FFF2-40B4-BE49-F238E27FC236}">
                <a16:creationId xmlns:a16="http://schemas.microsoft.com/office/drawing/2014/main" id="{12CEBE9E-C7D4-4B5A-A41E-9B5CB0D5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0670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E7D4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E7D4A"/>
                </a:solidFill>
                <a:latin typeface="Aptos"/>
                <a:ea typeface="Aptos"/>
                <a:cs typeface="Aptos"/>
              </a:rPr>
              <a:t>WHAT WE RETAINED</a:t>
            </a:r>
          </a:p>
        </p:txBody>
      </p:sp>
      <p:sp>
        <p:nvSpPr>
          <p:cNvPr id="56" name="era-3-learned">
            <a:extLst xmlns:a="http://schemas.openxmlformats.org/drawingml/2006/main">
              <a:ext uri="{FF2B5EF4-FFF2-40B4-BE49-F238E27FC236}">
                <a16:creationId xmlns:a16="http://schemas.microsoft.com/office/drawing/2014/main" id="{65A56980-641E-44FC-9F38-5E19A0E0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295650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0"/>
                </a:solidFill>
                <a:latin typeface="Aptos"/>
                <a:ea typeface="Aptos"/>
                <a:cs typeface="Aptos"/>
              </a:rPr>
              <a:t>Compilation, simulation, mismatch traces, and repair connect model output to measurable behavior.</a:t>
            </a:r>
          </a:p>
        </p:txBody>
      </p:sp>
      <p:sp>
        <p:nvSpPr>
          <p:cNvPr id="57" name="label-WHY WE EVOLVED">
            <a:extLst xmlns:a="http://schemas.openxmlformats.org/drawingml/2006/main">
              <a:ext uri="{FF2B5EF4-FFF2-40B4-BE49-F238E27FC236}">
                <a16:creationId xmlns:a16="http://schemas.microsoft.com/office/drawing/2014/main" id="{AD58EE01-62BF-4EB2-B172-1C7DB9120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0957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64B4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64B43"/>
                </a:solidFill>
                <a:latin typeface="Aptos"/>
                <a:ea typeface="Aptos"/>
                <a:cs typeface="Aptos"/>
              </a:rPr>
              <a:t>WHY WE EVOLVED</a:t>
            </a:r>
          </a:p>
        </p:txBody>
      </p:sp>
      <p:sp>
        <p:nvSpPr>
          <p:cNvPr id="58" name="era-3-failure-box">
            <a:extLst xmlns:a="http://schemas.openxmlformats.org/drawingml/2006/main">
              <a:ext uri="{FF2B5EF4-FFF2-40B4-BE49-F238E27FC236}">
                <a16:creationId xmlns:a16="http://schemas.microsoft.com/office/drawing/2014/main" id="{FF20454E-8764-4AD5-A173-5B7BB1B3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343400"/>
            <a:ext cx="3143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E8"/>
          </a:solidFill>
          <a:ln xmlns:a="http://schemas.openxmlformats.org/drawingml/2006/main" w="9525">
            <a:solidFill>
              <a:srgbClr val="E5B9B4"/>
            </a:solidFill>
            <a:prstDash val="solid"/>
          </a:ln>
        </p:spPr>
      </p:sp>
      <p:sp>
        <p:nvSpPr>
          <p:cNvPr id="59" name="era-3-failure">
            <a:extLst xmlns:a="http://schemas.openxmlformats.org/drawingml/2006/main">
              <a:ext uri="{FF2B5EF4-FFF2-40B4-BE49-F238E27FC236}">
                <a16:creationId xmlns:a16="http://schemas.microsoft.com/office/drawing/2014/main" id="{92C9C6F7-4E19-490B-A2FB-B79E5A7A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448175"/>
            <a:ext cx="2914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0283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830"/>
                </a:solidFill>
                <a:latin typeface="Aptos"/>
                <a:ea typeface="Aptos"/>
                <a:cs typeface="Aptos"/>
              </a:rPr>
              <a:t>Random stimuli may miss rare states, and two agents can still agree on the same wrong behavior.</a:t>
            </a:r>
          </a:p>
        </p:txBody>
      </p:sp>
      <p:sp>
        <p:nvSpPr>
          <p:cNvPr id="60" name="design-principle-body">
            <a:extLst xmlns:a="http://schemas.openxmlformats.org/drawingml/2006/main">
              <a:ext uri="{FF2B5EF4-FFF2-40B4-BE49-F238E27FC236}">
                <a16:creationId xmlns:a16="http://schemas.microsoft.com/office/drawing/2014/main" id="{42D6552E-5928-43A9-9902-CF0D144B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67350"/>
            <a:ext cx="11163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75A91"/>
            </a:solidFill>
            <a:prstDash val="solid"/>
          </a:ln>
        </p:spPr>
      </p:sp>
      <p:sp>
        <p:nvSpPr>
          <p:cNvPr id="61" name="design-principle-header">
            <a:extLst xmlns:a="http://schemas.openxmlformats.org/drawingml/2006/main">
              <a:ext uri="{FF2B5EF4-FFF2-40B4-BE49-F238E27FC236}">
                <a16:creationId xmlns:a16="http://schemas.microsoft.com/office/drawing/2014/main" id="{CF44BD0E-6201-4846-A4E2-EE970F3B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67350"/>
            <a:ext cx="11163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63"/>
          </a:solidFill>
          <a:ln xmlns:a="http://schemas.openxmlformats.org/drawingml/2006/main" w="0">
            <a:solidFill>
              <a:srgbClr val="173B63"/>
            </a:solidFill>
            <a:prstDash val="solid"/>
          </a:ln>
        </p:spPr>
      </p:sp>
      <p:sp>
        <p:nvSpPr>
          <p:cNvPr id="62" name="design-principle-title">
            <a:extLst xmlns:a="http://schemas.openxmlformats.org/drawingml/2006/main">
              <a:ext uri="{FF2B5EF4-FFF2-40B4-BE49-F238E27FC236}">
                <a16:creationId xmlns:a16="http://schemas.microsoft.com/office/drawing/2014/main" id="{95E07AD0-74B0-4A3F-92F4-A693745E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95925"/>
            <a:ext cx="109156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Design principle carried forward</a:t>
            </a:r>
          </a:p>
        </p:txBody>
      </p:sp>
      <p:sp>
        <p:nvSpPr>
          <p:cNvPr id="63" name="design-principle-text">
            <a:extLst xmlns:a="http://schemas.openxmlformats.org/drawingml/2006/main">
              <a:ext uri="{FF2B5EF4-FFF2-40B4-BE49-F238E27FC236}">
                <a16:creationId xmlns:a16="http://schemas.microsoft.com/office/drawing/2014/main" id="{337F4436-3BC1-4200-94F5-3E40590B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915025"/>
            <a:ext cx="108775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B6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3B63"/>
                </a:solidFill>
                <a:latin typeface="Aptos"/>
                <a:ea typeface="Aptos"/>
                <a:cs typeface="Aptos"/>
              </a:rPr>
              <a:t>We progressively reduced hidden inference:  latent graph  -&gt;  explicit typed IR  -&gt;  executable behavioral evidence.</a:t>
            </a:r>
          </a:p>
        </p:txBody>
      </p:sp>
    </p:spTree>
    <p:extLst>
      <p:ext uri="{BB962C8B-B14F-4D97-AF65-F5344CB8AC3E}">
        <p14:creationId xmlns:p14="http://schemas.microsoft.com/office/powerpoint/2010/main" val="144180470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43CD8CDA-1C10-47A3-BA31-83DD9778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F7F8FA"/>
            </a:solidFill>
            <a:prstDash val="solid"/>
          </a:ln>
        </p:spPr>
      </p:sp>
      <p:sp>
        <p:nvSpPr>
          <p:cNvPr id="2" name="beamer-headline">
            <a:extLst xmlns:a="http://schemas.openxmlformats.org/drawingml/2006/main">
              <a:ext uri="{FF2B5EF4-FFF2-40B4-BE49-F238E27FC236}">
                <a16:creationId xmlns:a16="http://schemas.microsoft.com/office/drawing/2014/main" id="{094CB6F6-5986-48FE-96EC-6F184828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63"/>
          </a:solidFill>
          <a:ln xmlns:a="http://schemas.openxmlformats.org/drawingml/2006/main" w="0">
            <a:solidFill>
              <a:srgbClr val="173B63"/>
            </a:solidFill>
            <a:prstDash val="solid"/>
          </a:ln>
        </p:spPr>
      </p:sp>
      <p:sp>
        <p:nvSpPr>
          <p:cNvPr id="3" name="headline-project">
            <a:extLst xmlns:a="http://schemas.openxmlformats.org/drawingml/2006/main">
              <a:ext uri="{FF2B5EF4-FFF2-40B4-BE49-F238E27FC236}">
                <a16:creationId xmlns:a16="http://schemas.microsoft.com/office/drawing/2014/main" id="{C7E346C3-1457-4A75-A542-E442E018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050"/>
            <a:ext cx="24765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BIRDI RESEARCH</a:t>
            </a:r>
          </a:p>
        </p:txBody>
      </p:sp>
      <p:sp>
        <p:nvSpPr>
          <p:cNvPr id="4" name="nav-Evolution">
            <a:extLst xmlns:a="http://schemas.openxmlformats.org/drawingml/2006/main">
              <a:ext uri="{FF2B5EF4-FFF2-40B4-BE49-F238E27FC236}">
                <a16:creationId xmlns:a16="http://schemas.microsoft.com/office/drawing/2014/main" id="{62C5AF5B-B53F-4A47-AB4A-B9A6BEC5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0"/>
            <a:ext cx="952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63"/>
          </a:solidFill>
          <a:ln xmlns:a="http://schemas.openxmlformats.org/drawingml/2006/main" w="0">
            <a:solidFill>
              <a:srgbClr val="173B63"/>
            </a:solidFill>
            <a:prstDash val="solid"/>
          </a:ln>
        </p:spPr>
      </p:sp>
      <p:sp>
        <p:nvSpPr>
          <p:cNvPr id="5" name="nav-label-Evolution">
            <a:extLst xmlns:a="http://schemas.openxmlformats.org/drawingml/2006/main">
              <a:ext uri="{FF2B5EF4-FFF2-40B4-BE49-F238E27FC236}">
                <a16:creationId xmlns:a16="http://schemas.microsoft.com/office/drawing/2014/main" id="{0CAB91A3-D0E2-4931-A14A-5F3C950C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9050"/>
            <a:ext cx="9525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C8D6E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C8D6E3"/>
                </a:solidFill>
                <a:latin typeface="Aptos"/>
                <a:ea typeface="Aptos"/>
                <a:cs typeface="Aptos"/>
              </a:rPr>
              <a:t>Evolution</a:t>
            </a:r>
          </a:p>
        </p:txBody>
      </p:sp>
      <p:sp>
        <p:nvSpPr>
          <p:cNvPr id="6" name="nav-Current System">
            <a:extLst xmlns:a="http://schemas.openxmlformats.org/drawingml/2006/main">
              <a:ext uri="{FF2B5EF4-FFF2-40B4-BE49-F238E27FC236}">
                <a16:creationId xmlns:a16="http://schemas.microsoft.com/office/drawing/2014/main" id="{AFE86988-A7AB-4812-A182-63C7DF1F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0"/>
            <a:ext cx="1219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A91"/>
          </a:solidFill>
          <a:ln xmlns:a="http://schemas.openxmlformats.org/drawingml/2006/main" w="0">
            <a:solidFill>
              <a:srgbClr val="275A91"/>
            </a:solidFill>
            <a:prstDash val="solid"/>
          </a:ln>
        </p:spPr>
      </p:sp>
      <p:sp>
        <p:nvSpPr>
          <p:cNvPr id="7" name="nav-label-Current System">
            <a:extLst xmlns:a="http://schemas.openxmlformats.org/drawingml/2006/main">
              <a:ext uri="{FF2B5EF4-FFF2-40B4-BE49-F238E27FC236}">
                <a16:creationId xmlns:a16="http://schemas.microsoft.com/office/drawing/2014/main" id="{426DEDCC-923C-45DB-8995-181AEAC0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9050"/>
            <a:ext cx="12192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Current System</a:t>
            </a:r>
          </a:p>
        </p:txBody>
      </p:sp>
      <p:sp>
        <p:nvSpPr>
          <p:cNvPr id="8" name="nav-Evidence">
            <a:extLst xmlns:a="http://schemas.openxmlformats.org/drawingml/2006/main">
              <a:ext uri="{FF2B5EF4-FFF2-40B4-BE49-F238E27FC236}">
                <a16:creationId xmlns:a16="http://schemas.microsoft.com/office/drawing/2014/main" id="{767F94F0-970B-4224-94D4-CE215873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0"/>
            <a:ext cx="8953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63"/>
          </a:solidFill>
          <a:ln xmlns:a="http://schemas.openxmlformats.org/drawingml/2006/main" w="0">
            <a:solidFill>
              <a:srgbClr val="173B63"/>
            </a:solidFill>
            <a:prstDash val="solid"/>
          </a:ln>
        </p:spPr>
      </p:sp>
      <p:sp>
        <p:nvSpPr>
          <p:cNvPr id="9" name="nav-label-Evidence">
            <a:extLst xmlns:a="http://schemas.openxmlformats.org/drawingml/2006/main">
              <a:ext uri="{FF2B5EF4-FFF2-40B4-BE49-F238E27FC236}">
                <a16:creationId xmlns:a16="http://schemas.microsoft.com/office/drawing/2014/main" id="{F6165AF2-27D1-42EB-BC72-CD12BB02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9050"/>
            <a:ext cx="8953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C8D6E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C8D6E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0" name="nav-Next Steps">
            <a:extLst xmlns:a="http://schemas.openxmlformats.org/drawingml/2006/main">
              <a:ext uri="{FF2B5EF4-FFF2-40B4-BE49-F238E27FC236}">
                <a16:creationId xmlns:a16="http://schemas.microsoft.com/office/drawing/2014/main" id="{5A306FA1-5C91-4305-B24B-7AC60B1B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0"/>
            <a:ext cx="1009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63"/>
          </a:solidFill>
          <a:ln xmlns:a="http://schemas.openxmlformats.org/drawingml/2006/main" w="0">
            <a:solidFill>
              <a:srgbClr val="173B63"/>
            </a:solidFill>
            <a:prstDash val="solid"/>
          </a:ln>
        </p:spPr>
      </p:sp>
      <p:sp>
        <p:nvSpPr>
          <p:cNvPr id="11" name="nav-label-Next Steps">
            <a:extLst xmlns:a="http://schemas.openxmlformats.org/drawingml/2006/main">
              <a:ext uri="{FF2B5EF4-FFF2-40B4-BE49-F238E27FC236}">
                <a16:creationId xmlns:a16="http://schemas.microsoft.com/office/drawing/2014/main" id="{B16BFF9C-97BB-4038-B98C-85593AC8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9050"/>
            <a:ext cx="10096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C8D6E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C8D6E3"/>
                </a:solidFill>
                <a:latin typeface="Aptos"/>
                <a:ea typeface="Aptos"/>
                <a:cs typeface="Aptos"/>
              </a:rPr>
              <a:t>Next Steps</a:t>
            </a:r>
          </a:p>
        </p:txBody>
      </p:sp>
      <p:sp>
        <p:nvSpPr>
          <p:cNvPr id="12" name="frame-title">
            <a:extLst xmlns:a="http://schemas.openxmlformats.org/drawingml/2006/main">
              <a:ext uri="{FF2B5EF4-FFF2-40B4-BE49-F238E27FC236}">
                <a16:creationId xmlns:a16="http://schemas.microsoft.com/office/drawing/2014/main" id="{1747F303-9C6C-4543-BB42-0E696773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1950"/>
            <a:ext cx="1114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3B6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3B63"/>
                </a:solidFill>
                <a:latin typeface="Aptos Display"/>
                <a:ea typeface="Aptos Display"/>
                <a:cs typeface="Aptos Display"/>
              </a:rPr>
              <a:t>Current implementation: verify and repair before final scoring</a:t>
            </a:r>
          </a:p>
        </p:txBody>
      </p:sp>
      <p:sp>
        <p:nvSpPr>
          <p:cNvPr id="13" name="frame-subtitle">
            <a:extLst xmlns:a="http://schemas.openxmlformats.org/drawingml/2006/main">
              <a:ext uri="{FF2B5EF4-FFF2-40B4-BE49-F238E27FC236}">
                <a16:creationId xmlns:a16="http://schemas.microsoft.com/office/drawing/2014/main" id="{C7619A0E-BFDA-45DF-8D58-5CDD18B3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52475"/>
            <a:ext cx="1104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080"/>
                </a:solidFill>
                <a:latin typeface="Aptos"/>
                <a:ea typeface="Aptos"/>
                <a:cs typeface="Aptos"/>
              </a:rPr>
              <a:t>The same RTL generator is evaluated under two oracle-family conditions</a:t>
            </a:r>
          </a:p>
        </p:txBody>
      </p:sp>
      <p:sp>
        <p:nvSpPr>
          <p:cNvPr id="14" name="frametitle-rule">
            <a:extLst xmlns:a="http://schemas.openxmlformats.org/drawingml/2006/main">
              <a:ext uri="{FF2B5EF4-FFF2-40B4-BE49-F238E27FC236}">
                <a16:creationId xmlns:a16="http://schemas.microsoft.com/office/drawing/2014/main" id="{F76B1ED4-9417-4DF1-B833-4360F47C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191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A91"/>
          </a:solidFill>
          <a:ln xmlns:a="http://schemas.openxmlformats.org/drawingml/2006/main" w="0">
            <a:solidFill>
              <a:srgbClr val="275A91"/>
            </a:solidFill>
            <a:prstDash val="solid"/>
          </a:ln>
        </p:spPr>
      </p:sp>
      <p:sp>
        <p:nvSpPr>
          <p:cNvPr id="15" name="beamer-footline">
            <a:extLst xmlns:a="http://schemas.openxmlformats.org/drawingml/2006/main">
              <a:ext uri="{FF2B5EF4-FFF2-40B4-BE49-F238E27FC236}">
                <a16:creationId xmlns:a16="http://schemas.microsoft.com/office/drawing/2014/main" id="{44201684-E856-4F5A-859B-280176611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63"/>
          </a:solidFill>
          <a:ln xmlns:a="http://schemas.openxmlformats.org/drawingml/2006/main" w="0">
            <a:solidFill>
              <a:srgbClr val="173B63"/>
            </a:solidFill>
            <a:prstDash val="solid"/>
          </a:ln>
        </p:spPr>
      </p:sp>
      <p:sp>
        <p:nvSpPr>
          <p:cNvPr id="16" name="footline-left">
            <a:extLst xmlns:a="http://schemas.openxmlformats.org/drawingml/2006/main">
              <a:ext uri="{FF2B5EF4-FFF2-40B4-BE49-F238E27FC236}">
                <a16:creationId xmlns:a16="http://schemas.microsoft.com/office/drawing/2014/main" id="{342F1F27-C771-4E0F-98A5-6F59A8F5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62725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BIRDI | Research evolution</a:t>
            </a:r>
          </a:p>
        </p:txBody>
      </p:sp>
      <p:sp>
        <p:nvSpPr>
          <p:cNvPr id="17" name="footline-center">
            <a:extLst xmlns:a="http://schemas.openxmlformats.org/drawingml/2006/main">
              <a:ext uri="{FF2B5EF4-FFF2-40B4-BE49-F238E27FC236}">
                <a16:creationId xmlns:a16="http://schemas.microsoft.com/office/drawing/2014/main" id="{610A82CD-0FF7-4039-B56C-A3DA5699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562725"/>
            <a:ext cx="676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8D6E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6E3"/>
                </a:solidFill>
                <a:latin typeface="Aptos"/>
                <a:ea typeface="Aptos"/>
                <a:cs typeface="Aptos"/>
              </a:rPr>
              <a:t>From graph-latent learning to verified RTL generation</a:t>
            </a:r>
          </a:p>
        </p:txBody>
      </p:sp>
      <p:sp>
        <p:nvSpPr>
          <p:cNvPr id="18" name="footline-page">
            <a:extLst xmlns:a="http://schemas.openxmlformats.org/drawingml/2006/main">
              <a:ext uri="{FF2B5EF4-FFF2-40B4-BE49-F238E27FC236}">
                <a16:creationId xmlns:a16="http://schemas.microsoft.com/office/drawing/2014/main" id="{AAE054EC-1E7B-48E6-AA1F-C4EDEB32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62725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 / 2</a:t>
            </a:r>
          </a:p>
        </p:txBody>
      </p:sp>
      <p:sp>
        <p:nvSpPr>
          <p:cNvPr id="19" name="workflow-block-body">
            <a:extLst xmlns:a="http://schemas.openxmlformats.org/drawingml/2006/main">
              <a:ext uri="{FF2B5EF4-FFF2-40B4-BE49-F238E27FC236}">
                <a16:creationId xmlns:a16="http://schemas.microsoft.com/office/drawing/2014/main" id="{8925E30E-7F0E-43F7-8779-DF48FB93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00150"/>
            <a:ext cx="11163300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75A91"/>
            </a:solidFill>
            <a:prstDash val="solid"/>
          </a:ln>
        </p:spPr>
      </p:sp>
      <p:sp>
        <p:nvSpPr>
          <p:cNvPr id="20" name="workflow-block-header">
            <a:extLst xmlns:a="http://schemas.openxmlformats.org/drawingml/2006/main">
              <a:ext uri="{FF2B5EF4-FFF2-40B4-BE49-F238E27FC236}">
                <a16:creationId xmlns:a16="http://schemas.microsoft.com/office/drawing/2014/main" id="{AE05F15D-B69C-41DF-933F-5999341D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00150"/>
            <a:ext cx="11163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A91"/>
          </a:solidFill>
          <a:ln xmlns:a="http://schemas.openxmlformats.org/drawingml/2006/main" w="0">
            <a:solidFill>
              <a:srgbClr val="275A91"/>
            </a:solidFill>
            <a:prstDash val="solid"/>
          </a:ln>
        </p:spPr>
      </p:sp>
      <p:sp>
        <p:nvSpPr>
          <p:cNvPr id="21" name="workflow-block-title">
            <a:extLst xmlns:a="http://schemas.openxmlformats.org/drawingml/2006/main">
              <a:ext uri="{FF2B5EF4-FFF2-40B4-BE49-F238E27FC236}">
                <a16:creationId xmlns:a16="http://schemas.microsoft.com/office/drawing/2014/main" id="{62B4A752-EAE6-4A3E-9504-CEF92FDE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228725"/>
            <a:ext cx="109156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Executable multi-agent RTL workflow</a:t>
            </a:r>
          </a:p>
        </p:txBody>
      </p:sp>
      <p:sp>
        <p:nvSpPr>
          <p:cNvPr id="22" name="node-RTL specification">
            <a:extLst xmlns:a="http://schemas.openxmlformats.org/drawingml/2006/main">
              <a:ext uri="{FF2B5EF4-FFF2-40B4-BE49-F238E27FC236}">
                <a16:creationId xmlns:a16="http://schemas.microsoft.com/office/drawing/2014/main" id="{BC34D011-7AEE-41D2-B13A-C0A03CEC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71650"/>
            <a:ext cx="12858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75A91"/>
            </a:solidFill>
            <a:prstDash val="solid"/>
          </a:ln>
        </p:spPr>
      </p:sp>
      <p:sp>
        <p:nvSpPr>
          <p:cNvPr id="23" name="node-header-RTL specification">
            <a:extLst xmlns:a="http://schemas.openxmlformats.org/drawingml/2006/main">
              <a:ext uri="{FF2B5EF4-FFF2-40B4-BE49-F238E27FC236}">
                <a16:creationId xmlns:a16="http://schemas.microsoft.com/office/drawing/2014/main" id="{C6017C6B-1E97-43DA-B063-32663A04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71650"/>
            <a:ext cx="12858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A91"/>
          </a:solidFill>
          <a:ln xmlns:a="http://schemas.openxmlformats.org/drawingml/2006/main" w="0">
            <a:solidFill>
              <a:srgbClr val="275A91"/>
            </a:solidFill>
            <a:prstDash val="solid"/>
          </a:ln>
        </p:spPr>
      </p:sp>
      <p:sp>
        <p:nvSpPr>
          <p:cNvPr id="24" name="node-title-RTL specification">
            <a:extLst xmlns:a="http://schemas.openxmlformats.org/drawingml/2006/main">
              <a:ext uri="{FF2B5EF4-FFF2-40B4-BE49-F238E27FC236}">
                <a16:creationId xmlns:a16="http://schemas.microsoft.com/office/drawing/2014/main" id="{7A887AB5-5843-4293-906A-1652EB7A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11144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RTL specification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425222d73a4a96">
            <a:extLst>
              <a:ext uri="{96DAC541-7B7A-43D3-8B79-37D633B846F1}">
                <asvg:svgBlip xmlns:asvg="http://schemas.microsoft.com/office/drawing/2016/SVG/main" r:embed="Rf553974105ad43e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33425" y="2143125"/>
            <a:ext cx="219075" cy="219075"/>
          </a:xfrm>
          <a:prstGeom xmlns:a="http://schemas.openxmlformats.org/drawingml/2006/main" prst="rect">
            <a:avLst/>
          </a:prstGeom>
        </p:spPr>
      </p:pic>
      <p:sp>
        <p:nvSpPr>
          <p:cNvPr id="26" name="node-detail-RTL specification">
            <a:extLst xmlns:a="http://schemas.openxmlformats.org/drawingml/2006/main">
              <a:ext uri="{FF2B5EF4-FFF2-40B4-BE49-F238E27FC236}">
                <a16:creationId xmlns:a16="http://schemas.microsoft.com/office/drawing/2014/main" id="{386A0E4A-B265-446D-B69F-8211987C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076450"/>
            <a:ext cx="8096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0283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02830"/>
                </a:solidFill>
                <a:latin typeface="Aptos"/>
                <a:ea typeface="Aptos"/>
                <a:cs typeface="Aptos"/>
              </a:rPr>
              <a:t>Ports, timing, and required behavior</a:t>
            </a:r>
          </a:p>
        </p:txBody>
      </p:sp>
      <p:sp>
        <p:nvSpPr>
          <p:cNvPr id="27" name="node-RTL generator">
            <a:extLst xmlns:a="http://schemas.openxmlformats.org/drawingml/2006/main">
              <a:ext uri="{FF2B5EF4-FFF2-40B4-BE49-F238E27FC236}">
                <a16:creationId xmlns:a16="http://schemas.microsoft.com/office/drawing/2014/main" id="{23641EB2-D010-42D3-BFE9-4CE36A36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71650"/>
            <a:ext cx="1619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38A83"/>
            </a:solidFill>
            <a:prstDash val="solid"/>
          </a:ln>
        </p:spPr>
      </p:sp>
      <p:sp>
        <p:nvSpPr>
          <p:cNvPr id="28" name="node-header-RTL generator">
            <a:extLst xmlns:a="http://schemas.openxmlformats.org/drawingml/2006/main">
              <a:ext uri="{FF2B5EF4-FFF2-40B4-BE49-F238E27FC236}">
                <a16:creationId xmlns:a16="http://schemas.microsoft.com/office/drawing/2014/main" id="{2BAB06AD-EDEF-4C5D-8DBF-36384596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71650"/>
            <a:ext cx="1619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83"/>
          </a:solidFill>
          <a:ln xmlns:a="http://schemas.openxmlformats.org/drawingml/2006/main" w="0">
            <a:solidFill>
              <a:srgbClr val="238A83"/>
            </a:solidFill>
            <a:prstDash val="solid"/>
          </a:ln>
        </p:spPr>
      </p:sp>
      <p:sp>
        <p:nvSpPr>
          <p:cNvPr id="29" name="node-title-RTL generator">
            <a:extLst xmlns:a="http://schemas.openxmlformats.org/drawingml/2006/main">
              <a:ext uri="{FF2B5EF4-FFF2-40B4-BE49-F238E27FC236}">
                <a16:creationId xmlns:a16="http://schemas.microsoft.com/office/drawing/2014/main" id="{980DB4B5-DF11-48E1-8532-09D15478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790700"/>
            <a:ext cx="14478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RTL generator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0c9e58b5f6438b">
            <a:extLst>
              <a:ext uri="{96DAC541-7B7A-43D3-8B79-37D633B846F1}">
                <asvg:svgBlip xmlns:asvg="http://schemas.microsoft.com/office/drawing/2016/SVG/main" r:embed="Ra8923e792cc7493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343150" y="2143125"/>
            <a:ext cx="219075" cy="219075"/>
          </a:xfrm>
          <a:prstGeom xmlns:a="http://schemas.openxmlformats.org/drawingml/2006/main" prst="rect">
            <a:avLst/>
          </a:prstGeom>
        </p:spPr>
      </p:pic>
      <p:sp>
        <p:nvSpPr>
          <p:cNvPr id="31" name="node-detail-RTL generator">
            <a:extLst xmlns:a="http://schemas.openxmlformats.org/drawingml/2006/main">
              <a:ext uri="{FF2B5EF4-FFF2-40B4-BE49-F238E27FC236}">
                <a16:creationId xmlns:a16="http://schemas.microsoft.com/office/drawing/2014/main" id="{BAD984AE-5A23-452B-85BD-A5BA40CA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076450"/>
            <a:ext cx="1143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0283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02830"/>
                </a:solidFill>
                <a:latin typeface="Aptos"/>
                <a:ea typeface="Aptos"/>
                <a:cs typeface="Aptos"/>
              </a:rPr>
              <a:t>Qwen2.5-Coder-7B candidate Verilog</a:t>
            </a:r>
          </a:p>
        </p:txBody>
      </p:sp>
      <p:sp>
        <p:nvSpPr>
          <p:cNvPr id="32" name="node-note-RTL generator">
            <a:extLst xmlns:a="http://schemas.openxmlformats.org/drawingml/2006/main">
              <a:ext uri="{FF2B5EF4-FFF2-40B4-BE49-F238E27FC236}">
                <a16:creationId xmlns:a16="http://schemas.microsoft.com/office/drawing/2014/main" id="{EFF2C397-3B11-407B-86C3-0C073471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95550"/>
            <a:ext cx="1466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238A83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238A83"/>
                </a:solidFill>
                <a:latin typeface="Aptos"/>
                <a:ea typeface="Aptos"/>
                <a:cs typeface="Aptos"/>
              </a:rPr>
              <a:t>SHARED</a:t>
            </a:r>
          </a:p>
        </p:txBody>
      </p:sp>
      <p:sp>
        <p:nvSpPr>
          <p:cNvPr id="33" name="node-Oracle package">
            <a:extLst xmlns:a="http://schemas.openxmlformats.org/drawingml/2006/main">
              <a:ext uri="{FF2B5EF4-FFF2-40B4-BE49-F238E27FC236}">
                <a16:creationId xmlns:a16="http://schemas.microsoft.com/office/drawing/2014/main" id="{E8145AAD-A071-4042-BDC2-91C67873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71650"/>
            <a:ext cx="17335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E7D4A"/>
            </a:solidFill>
            <a:prstDash val="solid"/>
          </a:ln>
        </p:spPr>
      </p:sp>
      <p:sp>
        <p:nvSpPr>
          <p:cNvPr id="34" name="node-header-Oracle package">
            <a:extLst xmlns:a="http://schemas.openxmlformats.org/drawingml/2006/main">
              <a:ext uri="{FF2B5EF4-FFF2-40B4-BE49-F238E27FC236}">
                <a16:creationId xmlns:a16="http://schemas.microsoft.com/office/drawing/2014/main" id="{6415C9E3-7EBC-444B-A34B-78D24914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71650"/>
            <a:ext cx="17335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D4A"/>
          </a:solidFill>
          <a:ln xmlns:a="http://schemas.openxmlformats.org/drawingml/2006/main" w="0">
            <a:solidFill>
              <a:srgbClr val="3E7D4A"/>
            </a:solidFill>
            <a:prstDash val="solid"/>
          </a:ln>
        </p:spPr>
      </p:sp>
      <p:sp>
        <p:nvSpPr>
          <p:cNvPr id="35" name="node-title-Oracle package">
            <a:extLst xmlns:a="http://schemas.openxmlformats.org/drawingml/2006/main">
              <a:ext uri="{FF2B5EF4-FFF2-40B4-BE49-F238E27FC236}">
                <a16:creationId xmlns:a16="http://schemas.microsoft.com/office/drawing/2014/main" id="{89124A3C-D0C7-4210-858A-6E4714D5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790700"/>
            <a:ext cx="15621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Oracle package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86f23a075d47c0">
            <a:extLst>
              <a:ext uri="{96DAC541-7B7A-43D3-8B79-37D633B846F1}">
                <asvg:svgBlip xmlns:asvg="http://schemas.microsoft.com/office/drawing/2016/SVG/main" r:embed="R8335b94301854c2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86250" y="2143125"/>
            <a:ext cx="219075" cy="219075"/>
          </a:xfrm>
          <a:prstGeom xmlns:a="http://schemas.openxmlformats.org/drawingml/2006/main" prst="rect">
            <a:avLst/>
          </a:prstGeom>
        </p:spPr>
      </p:pic>
      <p:sp>
        <p:nvSpPr>
          <p:cNvPr id="37" name="node-detail-Oracle package">
            <a:extLst xmlns:a="http://schemas.openxmlformats.org/drawingml/2006/main">
              <a:ext uri="{FF2B5EF4-FFF2-40B4-BE49-F238E27FC236}">
                <a16:creationId xmlns:a16="http://schemas.microsoft.com/office/drawing/2014/main" id="{3466041A-EFDB-4FFE-8C7A-EC6F405F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76450"/>
            <a:ext cx="12573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0283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02830"/>
                </a:solidFill>
                <a:latin typeface="Aptos"/>
                <a:ea typeface="Aptos"/>
                <a:cs typeface="Aptos"/>
              </a:rPr>
              <a:t>Generated SV tests and reference intent</a:t>
            </a:r>
          </a:p>
        </p:txBody>
      </p:sp>
      <p:sp>
        <p:nvSpPr>
          <p:cNvPr id="38" name="node-note-Oracle package">
            <a:extLst xmlns:a="http://schemas.openxmlformats.org/drawingml/2006/main">
              <a:ext uri="{FF2B5EF4-FFF2-40B4-BE49-F238E27FC236}">
                <a16:creationId xmlns:a16="http://schemas.microsoft.com/office/drawing/2014/main" id="{9A45A26C-08CC-49C8-AB30-2C99B588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95550"/>
            <a:ext cx="1581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3E7D4A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3E7D4A"/>
                </a:solidFill>
                <a:latin typeface="Aptos"/>
                <a:ea typeface="Aptos"/>
                <a:cs typeface="Aptos"/>
              </a:rPr>
              <a:t>QWEN / DEEPSEEK</a:t>
            </a:r>
          </a:p>
        </p:txBody>
      </p:sp>
      <p:sp>
        <p:nvSpPr>
          <p:cNvPr id="39" name="node-Icarus checks">
            <a:extLst xmlns:a="http://schemas.openxmlformats.org/drawingml/2006/main">
              <a:ext uri="{FF2B5EF4-FFF2-40B4-BE49-F238E27FC236}">
                <a16:creationId xmlns:a16="http://schemas.microsoft.com/office/drawing/2014/main" id="{0C2C010D-3809-4CE5-9F6D-0973A5B9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71650"/>
            <a:ext cx="1619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64B43"/>
            </a:solidFill>
            <a:prstDash val="solid"/>
          </a:ln>
        </p:spPr>
      </p:sp>
      <p:sp>
        <p:nvSpPr>
          <p:cNvPr id="40" name="node-header-Icarus checks">
            <a:extLst xmlns:a="http://schemas.openxmlformats.org/drawingml/2006/main">
              <a:ext uri="{FF2B5EF4-FFF2-40B4-BE49-F238E27FC236}">
                <a16:creationId xmlns:a16="http://schemas.microsoft.com/office/drawing/2014/main" id="{9CE3CB8A-0821-4456-B3CE-E677E1F7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71650"/>
            <a:ext cx="1619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B43"/>
          </a:solidFill>
          <a:ln xmlns:a="http://schemas.openxmlformats.org/drawingml/2006/main" w="0">
            <a:solidFill>
              <a:srgbClr val="B64B43"/>
            </a:solidFill>
            <a:prstDash val="solid"/>
          </a:ln>
        </p:spPr>
      </p:sp>
      <p:sp>
        <p:nvSpPr>
          <p:cNvPr id="41" name="node-title-Icarus checks">
            <a:extLst xmlns:a="http://schemas.openxmlformats.org/drawingml/2006/main">
              <a:ext uri="{FF2B5EF4-FFF2-40B4-BE49-F238E27FC236}">
                <a16:creationId xmlns:a16="http://schemas.microsoft.com/office/drawing/2014/main" id="{E1FBE0A1-AEF6-4075-ACB8-6AF9F2F4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90700"/>
            <a:ext cx="14478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Icarus checks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8294931fe54144">
            <a:extLst>
              <a:ext uri="{96DAC541-7B7A-43D3-8B79-37D633B846F1}">
                <asvg:svgBlip xmlns:asvg="http://schemas.microsoft.com/office/drawing/2016/SVG/main" r:embed="Rc9b9fd9bb80f4d3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43650" y="2143125"/>
            <a:ext cx="219075" cy="219075"/>
          </a:xfrm>
          <a:prstGeom xmlns:a="http://schemas.openxmlformats.org/drawingml/2006/main" prst="rect">
            <a:avLst/>
          </a:prstGeom>
        </p:spPr>
      </p:pic>
      <p:sp>
        <p:nvSpPr>
          <p:cNvPr id="43" name="node-detail-Icarus checks">
            <a:extLst xmlns:a="http://schemas.openxmlformats.org/drawingml/2006/main">
              <a:ext uri="{FF2B5EF4-FFF2-40B4-BE49-F238E27FC236}">
                <a16:creationId xmlns:a16="http://schemas.microsoft.com/office/drawing/2014/main" id="{06FAEE94-AB72-4731-921C-62F18E2B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76450"/>
            <a:ext cx="1143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0283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02830"/>
                </a:solidFill>
                <a:latin typeface="Aptos"/>
                <a:ea typeface="Aptos"/>
                <a:cs typeface="Aptos"/>
              </a:rPr>
              <a:t>Compile and simulate candidate behavior</a:t>
            </a:r>
          </a:p>
        </p:txBody>
      </p:sp>
      <p:sp>
        <p:nvSpPr>
          <p:cNvPr id="44" name="node-Repair">
            <a:extLst xmlns:a="http://schemas.openxmlformats.org/drawingml/2006/main">
              <a:ext uri="{FF2B5EF4-FFF2-40B4-BE49-F238E27FC236}">
                <a16:creationId xmlns:a16="http://schemas.microsoft.com/office/drawing/2014/main" id="{4A596199-CE72-48E0-9DA5-2F2E5A2F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71650"/>
            <a:ext cx="13525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38A83"/>
            </a:solidFill>
            <a:prstDash val="solid"/>
          </a:ln>
        </p:spPr>
      </p:sp>
      <p:sp>
        <p:nvSpPr>
          <p:cNvPr id="45" name="node-header-Repair">
            <a:extLst xmlns:a="http://schemas.openxmlformats.org/drawingml/2006/main">
              <a:ext uri="{FF2B5EF4-FFF2-40B4-BE49-F238E27FC236}">
                <a16:creationId xmlns:a16="http://schemas.microsoft.com/office/drawing/2014/main" id="{FC91FE9E-D900-4F16-8220-0F36D9ED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71650"/>
            <a:ext cx="13525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83"/>
          </a:solidFill>
          <a:ln xmlns:a="http://schemas.openxmlformats.org/drawingml/2006/main" w="0">
            <a:solidFill>
              <a:srgbClr val="238A83"/>
            </a:solidFill>
            <a:prstDash val="solid"/>
          </a:ln>
        </p:spPr>
      </p:sp>
      <p:sp>
        <p:nvSpPr>
          <p:cNvPr id="46" name="node-title-Repair">
            <a:extLst xmlns:a="http://schemas.openxmlformats.org/drawingml/2006/main">
              <a:ext uri="{FF2B5EF4-FFF2-40B4-BE49-F238E27FC236}">
                <a16:creationId xmlns:a16="http://schemas.microsoft.com/office/drawing/2014/main" id="{3E251532-424E-4E41-B6FE-EA211D28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790700"/>
            <a:ext cx="11811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Repair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0ad890873b4c45">
            <a:extLst>
              <a:ext uri="{96DAC541-7B7A-43D3-8B79-37D633B846F1}">
                <asvg:svgBlip xmlns:asvg="http://schemas.microsoft.com/office/drawing/2016/SVG/main" r:embed="Rc1ee4ab1f6fb47a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86750" y="2143125"/>
            <a:ext cx="219075" cy="219075"/>
          </a:xfrm>
          <a:prstGeom xmlns:a="http://schemas.openxmlformats.org/drawingml/2006/main" prst="rect">
            <a:avLst/>
          </a:prstGeom>
        </p:spPr>
      </p:pic>
      <p:sp>
        <p:nvSpPr>
          <p:cNvPr id="48" name="node-detail-Repair">
            <a:extLst xmlns:a="http://schemas.openxmlformats.org/drawingml/2006/main">
              <a:ext uri="{FF2B5EF4-FFF2-40B4-BE49-F238E27FC236}">
                <a16:creationId xmlns:a16="http://schemas.microsoft.com/office/drawing/2014/main" id="{A43096C1-0699-45B7-9FAE-6CA82B1C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76450"/>
            <a:ext cx="8763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0283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02830"/>
                </a:solidFill>
                <a:latin typeface="Aptos"/>
                <a:ea typeface="Aptos"/>
                <a:cs typeface="Aptos"/>
              </a:rPr>
              <a:t>On compile failure or oracle mismatch</a:t>
            </a:r>
          </a:p>
        </p:txBody>
      </p:sp>
      <p:sp>
        <p:nvSpPr>
          <p:cNvPr id="49" name="node-Official scoring">
            <a:extLst xmlns:a="http://schemas.openxmlformats.org/drawingml/2006/main">
              <a:ext uri="{FF2B5EF4-FFF2-40B4-BE49-F238E27FC236}">
                <a16:creationId xmlns:a16="http://schemas.microsoft.com/office/drawing/2014/main" id="{7FD7CEF6-C9D6-481D-954C-506D278B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771650"/>
            <a:ext cx="14954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75A91"/>
            </a:solidFill>
            <a:prstDash val="solid"/>
          </a:ln>
        </p:spPr>
      </p:sp>
      <p:sp>
        <p:nvSpPr>
          <p:cNvPr id="50" name="node-header-Official scoring">
            <a:extLst xmlns:a="http://schemas.openxmlformats.org/drawingml/2006/main">
              <a:ext uri="{FF2B5EF4-FFF2-40B4-BE49-F238E27FC236}">
                <a16:creationId xmlns:a16="http://schemas.microsoft.com/office/drawing/2014/main" id="{29D353C5-38AF-4DF1-A9D7-5D03920A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771650"/>
            <a:ext cx="1495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A91"/>
          </a:solidFill>
          <a:ln xmlns:a="http://schemas.openxmlformats.org/drawingml/2006/main" w="0">
            <a:solidFill>
              <a:srgbClr val="275A91"/>
            </a:solidFill>
            <a:prstDash val="solid"/>
          </a:ln>
        </p:spPr>
      </p:sp>
      <p:sp>
        <p:nvSpPr>
          <p:cNvPr id="51" name="node-title-Official scoring">
            <a:extLst xmlns:a="http://schemas.openxmlformats.org/drawingml/2006/main">
              <a:ext uri="{FF2B5EF4-FFF2-40B4-BE49-F238E27FC236}">
                <a16:creationId xmlns:a16="http://schemas.microsoft.com/office/drawing/2014/main" id="{1FE101E2-4A3B-4E95-A442-26E50110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790700"/>
            <a:ext cx="132397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Official scoring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d236f1732645ce">
            <a:extLst>
              <a:ext uri="{96DAC541-7B7A-43D3-8B79-37D633B846F1}">
                <asvg:svgBlip xmlns:asvg="http://schemas.microsoft.com/office/drawing/2016/SVG/main" r:embed="R6b1cfce83d4b49c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63150" y="2143125"/>
            <a:ext cx="219075" cy="219075"/>
          </a:xfrm>
          <a:prstGeom xmlns:a="http://schemas.openxmlformats.org/drawingml/2006/main" prst="rect">
            <a:avLst/>
          </a:prstGeom>
        </p:spPr>
      </p:pic>
      <p:sp>
        <p:nvSpPr>
          <p:cNvPr id="53" name="node-detail-Official scoring">
            <a:extLst xmlns:a="http://schemas.openxmlformats.org/drawingml/2006/main">
              <a:ext uri="{FF2B5EF4-FFF2-40B4-BE49-F238E27FC236}">
                <a16:creationId xmlns:a16="http://schemas.microsoft.com/office/drawing/2014/main" id="{B45A5B10-102F-45B6-938E-F55FC807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076450"/>
            <a:ext cx="10191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0283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02830"/>
                </a:solidFill>
                <a:latin typeface="Aptos"/>
                <a:ea typeface="Aptos"/>
                <a:cs typeface="Aptos"/>
              </a:rPr>
              <a:t>Final VerilogEval pass@1</a:t>
            </a:r>
          </a:p>
        </p:txBody>
      </p:sp>
      <p:sp>
        <p:nvSpPr>
          <p:cNvPr id="54" name="node-note-Official scoring">
            <a:extLst xmlns:a="http://schemas.openxmlformats.org/drawingml/2006/main">
              <a:ext uri="{FF2B5EF4-FFF2-40B4-BE49-F238E27FC236}">
                <a16:creationId xmlns:a16="http://schemas.microsoft.com/office/drawing/2014/main" id="{439FAD74-A86F-46F4-87AF-4BE61F47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495550"/>
            <a:ext cx="13430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275A91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275A91"/>
                </a:solidFill>
                <a:latin typeface="Aptos"/>
                <a:ea typeface="Aptos"/>
                <a:cs typeface="Aptos"/>
              </a:rPr>
              <a:t>EVALUATION ONLY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566c7b89284435">
            <a:extLst>
              <a:ext uri="{96DAC541-7B7A-43D3-8B79-37D633B846F1}">
                <asvg:svgBlip xmlns:asvg="http://schemas.microsoft.com/office/drawing/2016/SVG/main" r:embed="R6495fff8c5d74d8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981200" y="2085975"/>
            <a:ext cx="209550" cy="257175"/>
          </a:xfrm>
          <a:prstGeom xmlns:a="http://schemas.openxmlformats.org/drawingml/2006/main" prst="rect">
            <a:avLst/>
          </a:prstGeom>
        </p:spPr>
      </p:pic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1cd087a22c4ab2">
            <a:extLst>
              <a:ext uri="{96DAC541-7B7A-43D3-8B79-37D633B846F1}">
                <asvg:svgBlip xmlns:asvg="http://schemas.microsoft.com/office/drawing/2016/SVG/main" r:embed="R996d79de01d34ee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924300" y="2085975"/>
            <a:ext cx="209550" cy="257175"/>
          </a:xfrm>
          <a:prstGeom xmlns:a="http://schemas.openxmlformats.org/drawingml/2006/main" prst="rect">
            <a:avLst/>
          </a:prstGeom>
        </p:spPr>
      </p:pic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c15bde4ce6402b">
            <a:extLst>
              <a:ext uri="{96DAC541-7B7A-43D3-8B79-37D633B846F1}">
                <asvg:svgBlip xmlns:asvg="http://schemas.microsoft.com/office/drawing/2016/SVG/main" r:embed="R4d1287a93ec74db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81700" y="2085975"/>
            <a:ext cx="209550" cy="257175"/>
          </a:xfrm>
          <a:prstGeom xmlns:a="http://schemas.openxmlformats.org/drawingml/2006/main" prst="rect">
            <a:avLst/>
          </a:prstGeom>
        </p:spPr>
      </p:pic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7465bae74f4554">
            <a:extLst>
              <a:ext uri="{96DAC541-7B7A-43D3-8B79-37D633B846F1}">
                <asvg:svgBlip xmlns:asvg="http://schemas.microsoft.com/office/drawing/2016/SVG/main" r:embed="Rdd3a7e049f2e464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24800" y="2085975"/>
            <a:ext cx="209550" cy="257175"/>
          </a:xfrm>
          <a:prstGeom xmlns:a="http://schemas.openxmlformats.org/drawingml/2006/main" prst="rect">
            <a:avLst/>
          </a:prstGeom>
        </p:spPr>
      </p:pic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77ab1fdd8b424d">
            <a:extLst>
              <a:ext uri="{96DAC541-7B7A-43D3-8B79-37D633B846F1}">
                <asvg:svgBlip xmlns:asvg="http://schemas.microsoft.com/office/drawing/2016/SVG/main" r:embed="R3702476fb7b7498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2085975"/>
            <a:ext cx="209550" cy="257175"/>
          </a:xfrm>
          <a:prstGeom xmlns:a="http://schemas.openxmlformats.org/drawingml/2006/main" prst="rect">
            <a:avLst/>
          </a:prstGeom>
        </p:spPr>
      </p:pic>
      <p:sp>
        <p:nvSpPr>
          <p:cNvPr id="60" name="results-block-body">
            <a:extLst xmlns:a="http://schemas.openxmlformats.org/drawingml/2006/main">
              <a:ext uri="{FF2B5EF4-FFF2-40B4-BE49-F238E27FC236}">
                <a16:creationId xmlns:a16="http://schemas.microsoft.com/office/drawing/2014/main" id="{C687EBEF-3773-4485-8A80-F4E24E13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09925"/>
            <a:ext cx="5334000" cy="307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C"/>
            </a:solidFill>
            <a:prstDash val="solid"/>
          </a:ln>
        </p:spPr>
      </p:sp>
      <p:sp>
        <p:nvSpPr>
          <p:cNvPr id="61" name="results-block-header">
            <a:extLst xmlns:a="http://schemas.openxmlformats.org/drawingml/2006/main">
              <a:ext uri="{FF2B5EF4-FFF2-40B4-BE49-F238E27FC236}">
                <a16:creationId xmlns:a16="http://schemas.microsoft.com/office/drawing/2014/main" id="{A5563D65-DCDD-4CA0-B700-23B1C2E3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09925"/>
            <a:ext cx="533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A91"/>
          </a:solidFill>
          <a:ln xmlns:a="http://schemas.openxmlformats.org/drawingml/2006/main" w="0">
            <a:solidFill>
              <a:srgbClr val="275A91"/>
            </a:solidFill>
            <a:prstDash val="solid"/>
          </a:ln>
        </p:spPr>
      </p:sp>
      <p:sp>
        <p:nvSpPr>
          <p:cNvPr id="62" name="results-block-title">
            <a:extLst xmlns:a="http://schemas.openxmlformats.org/drawingml/2006/main">
              <a:ext uri="{FF2B5EF4-FFF2-40B4-BE49-F238E27FC236}">
                <a16:creationId xmlns:a16="http://schemas.microsoft.com/office/drawing/2014/main" id="{838A548E-4540-4236-B034-2A6CB9A9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238500"/>
            <a:ext cx="50863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Preliminary VerilogEval pass@1 | 50 complexity-weighted tasks</a:t>
            </a:r>
          </a:p>
        </p:txBody>
      </p:sp>
      <p:sp>
        <p:nvSpPr>
          <p:cNvPr id="63" name="results-claim">
            <a:extLst xmlns:a="http://schemas.openxmlformats.org/drawingml/2006/main">
              <a:ext uri="{FF2B5EF4-FFF2-40B4-BE49-F238E27FC236}">
                <a16:creationId xmlns:a16="http://schemas.microsoft.com/office/drawing/2014/main" id="{FD938DF5-B0A1-4C5E-B0DB-A7D0E255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648075"/>
            <a:ext cx="5048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B6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3B63"/>
                </a:solidFill>
                <a:latin typeface="Aptos"/>
                <a:ea typeface="Aptos"/>
                <a:cs typeface="Aptos"/>
              </a:rPr>
              <a:t>Verification and repair produced the largest observed gain.</a:t>
            </a:r>
          </a:p>
        </p:txBody>
      </p:sp>
      <p:sp>
        <p:nvSpPr>
          <p:cNvPr id="64" name="bar-label-Single RTL agent">
            <a:extLst xmlns:a="http://schemas.openxmlformats.org/drawingml/2006/main">
              <a:ext uri="{FF2B5EF4-FFF2-40B4-BE49-F238E27FC236}">
                <a16:creationId xmlns:a16="http://schemas.microsoft.com/office/drawing/2014/main" id="{375ACE32-DE6A-401F-BECE-BB35FC58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0005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283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02830"/>
                </a:solidFill>
                <a:latin typeface="Aptos"/>
                <a:ea typeface="Aptos"/>
                <a:cs typeface="Aptos"/>
              </a:rPr>
              <a:t>Single RTL agent</a:t>
            </a:r>
          </a:p>
        </p:txBody>
      </p:sp>
      <p:sp>
        <p:nvSpPr>
          <p:cNvPr id="65" name="bar-delta-Single RTL agent">
            <a:extLst xmlns:a="http://schemas.openxmlformats.org/drawingml/2006/main">
              <a:ext uri="{FF2B5EF4-FFF2-40B4-BE49-F238E27FC236}">
                <a16:creationId xmlns:a16="http://schemas.microsoft.com/office/drawing/2014/main" id="{01891462-6BBE-4016-8A95-F32F2600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00050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080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66" name="bar-track-Single RTL agent">
            <a:extLst xmlns:a="http://schemas.openxmlformats.org/drawingml/2006/main">
              <a:ext uri="{FF2B5EF4-FFF2-40B4-BE49-F238E27FC236}">
                <a16:creationId xmlns:a16="http://schemas.microsoft.com/office/drawing/2014/main" id="{2E4611CD-5040-4C1F-8ED9-EE209875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57675"/>
            <a:ext cx="3714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9"/>
          </a:solidFill>
          <a:ln xmlns:a="http://schemas.openxmlformats.org/drawingml/2006/main" w="0">
            <a:solidFill>
              <a:srgbClr val="DCE3E9"/>
            </a:solidFill>
            <a:prstDash val="solid"/>
          </a:ln>
        </p:spPr>
      </p:sp>
      <p:sp>
        <p:nvSpPr>
          <p:cNvPr id="67" name="bar-value-Single RTL agent">
            <a:extLst xmlns:a="http://schemas.openxmlformats.org/drawingml/2006/main">
              <a:ext uri="{FF2B5EF4-FFF2-40B4-BE49-F238E27FC236}">
                <a16:creationId xmlns:a16="http://schemas.microsoft.com/office/drawing/2014/main" id="{4A125419-E5E9-4D18-9222-06C48485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57675"/>
            <a:ext cx="193167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6CF"/>
          </a:solidFill>
          <a:ln xmlns:a="http://schemas.openxmlformats.org/drawingml/2006/main" w="0">
            <a:solidFill>
              <a:srgbClr val="7FA6CF"/>
            </a:solidFill>
            <a:prstDash val="solid"/>
          </a:ln>
        </p:spPr>
      </p:sp>
      <p:sp>
        <p:nvSpPr>
          <p:cNvPr id="68" name="bar-percent-Single RTL agent">
            <a:extLst xmlns:a="http://schemas.openxmlformats.org/drawingml/2006/main">
              <a:ext uri="{FF2B5EF4-FFF2-40B4-BE49-F238E27FC236}">
                <a16:creationId xmlns:a16="http://schemas.microsoft.com/office/drawing/2014/main" id="{683DCA3A-DE69-4937-8DC7-AF02D015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143375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FA6C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FA6CF"/>
                </a:solidFill>
                <a:latin typeface="Aptos"/>
                <a:ea typeface="Aptos"/>
                <a:cs typeface="Aptos"/>
              </a:rPr>
              <a:t>52%</a:t>
            </a:r>
          </a:p>
        </p:txBody>
      </p:sp>
      <p:sp>
        <p:nvSpPr>
          <p:cNvPr id="69" name="bar-label-Different-family oracle">
            <a:extLst xmlns:a="http://schemas.openxmlformats.org/drawingml/2006/main">
              <a:ext uri="{FF2B5EF4-FFF2-40B4-BE49-F238E27FC236}">
                <a16:creationId xmlns:a16="http://schemas.microsoft.com/office/drawing/2014/main" id="{F5B0EDEA-0948-4465-A3F5-6409055E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6291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283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02830"/>
                </a:solidFill>
                <a:latin typeface="Aptos"/>
                <a:ea typeface="Aptos"/>
                <a:cs typeface="Aptos"/>
              </a:rPr>
              <a:t>Different-family oracle</a:t>
            </a:r>
          </a:p>
        </p:txBody>
      </p:sp>
      <p:sp>
        <p:nvSpPr>
          <p:cNvPr id="70" name="bar-delta-Different-family oracle">
            <a:extLst xmlns:a="http://schemas.openxmlformats.org/drawingml/2006/main">
              <a:ext uri="{FF2B5EF4-FFF2-40B4-BE49-F238E27FC236}">
                <a16:creationId xmlns:a16="http://schemas.microsoft.com/office/drawing/2014/main" id="{73DCF6FB-385B-410F-A798-476D38FE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62915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080"/>
                </a:solidFill>
                <a:latin typeface="Aptos"/>
                <a:ea typeface="Aptos"/>
                <a:cs typeface="Aptos"/>
              </a:rPr>
              <a:t>+6 pp</a:t>
            </a:r>
          </a:p>
        </p:txBody>
      </p:sp>
      <p:sp>
        <p:nvSpPr>
          <p:cNvPr id="71" name="bar-track-Different-family oracle">
            <a:extLst xmlns:a="http://schemas.openxmlformats.org/drawingml/2006/main">
              <a:ext uri="{FF2B5EF4-FFF2-40B4-BE49-F238E27FC236}">
                <a16:creationId xmlns:a16="http://schemas.microsoft.com/office/drawing/2014/main" id="{05C39677-6B54-4594-9303-169832A74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86325"/>
            <a:ext cx="3714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9"/>
          </a:solidFill>
          <a:ln xmlns:a="http://schemas.openxmlformats.org/drawingml/2006/main" w="0">
            <a:solidFill>
              <a:srgbClr val="DCE3E9"/>
            </a:solidFill>
            <a:prstDash val="solid"/>
          </a:ln>
        </p:spPr>
      </p:sp>
      <p:sp>
        <p:nvSpPr>
          <p:cNvPr id="72" name="bar-value-Different-family oracle">
            <a:extLst xmlns:a="http://schemas.openxmlformats.org/drawingml/2006/main">
              <a:ext uri="{FF2B5EF4-FFF2-40B4-BE49-F238E27FC236}">
                <a16:creationId xmlns:a16="http://schemas.microsoft.com/office/drawing/2014/main" id="{953401A1-F410-4F42-BF4B-E2ED7913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86325"/>
            <a:ext cx="215455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BDB5"/>
          </a:solidFill>
          <a:ln xmlns:a="http://schemas.openxmlformats.org/drawingml/2006/main" w="0">
            <a:solidFill>
              <a:srgbClr val="67BDB5"/>
            </a:solidFill>
            <a:prstDash val="solid"/>
          </a:ln>
        </p:spPr>
      </p:sp>
      <p:sp>
        <p:nvSpPr>
          <p:cNvPr id="73" name="bar-percent-Different-family oracle">
            <a:extLst xmlns:a="http://schemas.openxmlformats.org/drawingml/2006/main">
              <a:ext uri="{FF2B5EF4-FFF2-40B4-BE49-F238E27FC236}">
                <a16:creationId xmlns:a16="http://schemas.microsoft.com/office/drawing/2014/main" id="{7F7882B4-FDC9-418E-B9CC-56224665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772025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7BDB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7BDB5"/>
                </a:solidFill>
                <a:latin typeface="Aptos"/>
                <a:ea typeface="Aptos"/>
                <a:cs typeface="Aptos"/>
              </a:rPr>
              <a:t>58%</a:t>
            </a:r>
          </a:p>
        </p:txBody>
      </p:sp>
      <p:sp>
        <p:nvSpPr>
          <p:cNvPr id="74" name="bar-label-Same-family oracle">
            <a:extLst xmlns:a="http://schemas.openxmlformats.org/drawingml/2006/main">
              <a:ext uri="{FF2B5EF4-FFF2-40B4-BE49-F238E27FC236}">
                <a16:creationId xmlns:a16="http://schemas.microsoft.com/office/drawing/2014/main" id="{47BD4A19-13CD-43B0-A3E2-77590D8D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2578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283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02830"/>
                </a:solidFill>
                <a:latin typeface="Aptos"/>
                <a:ea typeface="Aptos"/>
                <a:cs typeface="Aptos"/>
              </a:rPr>
              <a:t>Same-family oracle</a:t>
            </a:r>
          </a:p>
        </p:txBody>
      </p:sp>
      <p:sp>
        <p:nvSpPr>
          <p:cNvPr id="75" name="bar-delta-Same-family oracle">
            <a:extLst xmlns:a="http://schemas.openxmlformats.org/drawingml/2006/main">
              <a:ext uri="{FF2B5EF4-FFF2-40B4-BE49-F238E27FC236}">
                <a16:creationId xmlns:a16="http://schemas.microsoft.com/office/drawing/2014/main" id="{9E850329-885B-427E-85D5-2A900DB5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525780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080"/>
                </a:solidFill>
                <a:latin typeface="Aptos"/>
                <a:ea typeface="Aptos"/>
                <a:cs typeface="Aptos"/>
              </a:rPr>
              <a:t>+8 pp</a:t>
            </a:r>
          </a:p>
        </p:txBody>
      </p:sp>
      <p:sp>
        <p:nvSpPr>
          <p:cNvPr id="76" name="bar-track-Same-family oracle">
            <a:extLst xmlns:a="http://schemas.openxmlformats.org/drawingml/2006/main">
              <a:ext uri="{FF2B5EF4-FFF2-40B4-BE49-F238E27FC236}">
                <a16:creationId xmlns:a16="http://schemas.microsoft.com/office/drawing/2014/main" id="{E2A8D72D-17B2-4B82-B08B-992F6235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514975"/>
            <a:ext cx="3714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9"/>
          </a:solidFill>
          <a:ln xmlns:a="http://schemas.openxmlformats.org/drawingml/2006/main" w="0">
            <a:solidFill>
              <a:srgbClr val="DCE3E9"/>
            </a:solidFill>
            <a:prstDash val="solid"/>
          </a:ln>
        </p:spPr>
      </p:sp>
      <p:sp>
        <p:nvSpPr>
          <p:cNvPr id="77" name="bar-value-Same-family oracle">
            <a:extLst xmlns:a="http://schemas.openxmlformats.org/drawingml/2006/main">
              <a:ext uri="{FF2B5EF4-FFF2-40B4-BE49-F238E27FC236}">
                <a16:creationId xmlns:a16="http://schemas.microsoft.com/office/drawing/2014/main" id="{583B0FAB-8636-44B1-9CFA-E013C725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514975"/>
            <a:ext cx="22288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A879"/>
          </a:solidFill>
          <a:ln xmlns:a="http://schemas.openxmlformats.org/drawingml/2006/main" w="0">
            <a:solidFill>
              <a:srgbClr val="6FA879"/>
            </a:solidFill>
            <a:prstDash val="solid"/>
          </a:ln>
        </p:spPr>
      </p:sp>
      <p:sp>
        <p:nvSpPr>
          <p:cNvPr id="78" name="bar-percent-Same-family oracle">
            <a:extLst xmlns:a="http://schemas.openxmlformats.org/drawingml/2006/main">
              <a:ext uri="{FF2B5EF4-FFF2-40B4-BE49-F238E27FC236}">
                <a16:creationId xmlns:a16="http://schemas.microsoft.com/office/drawing/2014/main" id="{AFFE6BE9-A397-45FE-86AD-63C84850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5400675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FA87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FA879"/>
                </a:solidFill>
                <a:latin typeface="Aptos"/>
                <a:ea typeface="Aptos"/>
                <a:cs typeface="Aptos"/>
              </a:rPr>
              <a:t>60%</a:t>
            </a:r>
          </a:p>
        </p:txBody>
      </p:sp>
      <p:sp>
        <p:nvSpPr>
          <p:cNvPr id="79" name="results-note">
            <a:extLst xmlns:a="http://schemas.openxmlformats.org/drawingml/2006/main">
              <a:ext uri="{FF2B5EF4-FFF2-40B4-BE49-F238E27FC236}">
                <a16:creationId xmlns:a16="http://schemas.microsoft.com/office/drawing/2014/main" id="{6B7BCC0C-5164-4E4D-929E-272D73E8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953125"/>
            <a:ext cx="485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07080"/>
                </a:solidFill>
                <a:latin typeface="Aptos"/>
                <a:ea typeface="Aptos"/>
                <a:cs typeface="Aptos"/>
              </a:rPr>
              <a:t>Preliminary subset result; denominator = 50 attempted tasks.</a:t>
            </a:r>
          </a:p>
        </p:txBody>
      </p:sp>
      <p:sp>
        <p:nvSpPr>
          <p:cNvPr id="80" name="insight-block-body">
            <a:extLst xmlns:a="http://schemas.openxmlformats.org/drawingml/2006/main">
              <a:ext uri="{FF2B5EF4-FFF2-40B4-BE49-F238E27FC236}">
                <a16:creationId xmlns:a16="http://schemas.microsoft.com/office/drawing/2014/main" id="{CD8846E1-F27B-4D44-8EF2-AC669C2A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09925"/>
            <a:ext cx="5562600" cy="307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C"/>
          </a:solidFill>
          <a:ln xmlns:a="http://schemas.openxmlformats.org/drawingml/2006/main" w="9525">
            <a:solidFill>
              <a:srgbClr val="3E7D4A"/>
            </a:solidFill>
            <a:prstDash val="solid"/>
          </a:ln>
        </p:spPr>
      </p:sp>
      <p:sp>
        <p:nvSpPr>
          <p:cNvPr id="81" name="insight-block-header">
            <a:extLst xmlns:a="http://schemas.openxmlformats.org/drawingml/2006/main">
              <a:ext uri="{FF2B5EF4-FFF2-40B4-BE49-F238E27FC236}">
                <a16:creationId xmlns:a16="http://schemas.microsoft.com/office/drawing/2014/main" id="{BAA6538C-CFD2-49CA-8182-428E4B33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09925"/>
            <a:ext cx="5562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D4A"/>
          </a:solidFill>
          <a:ln xmlns:a="http://schemas.openxmlformats.org/drawingml/2006/main" w="0">
            <a:solidFill>
              <a:srgbClr val="3E7D4A"/>
            </a:solidFill>
            <a:prstDash val="solid"/>
          </a:ln>
        </p:spPr>
      </p:sp>
      <p:sp>
        <p:nvSpPr>
          <p:cNvPr id="82" name="insight-block-title">
            <a:extLst xmlns:a="http://schemas.openxmlformats.org/drawingml/2006/main">
              <a:ext uri="{FF2B5EF4-FFF2-40B4-BE49-F238E27FC236}">
                <a16:creationId xmlns:a16="http://schemas.microsoft.com/office/drawing/2014/main" id="{A3C68522-9BA9-4876-95D9-D2C7DA10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38500"/>
            <a:ext cx="53149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Interpretation and next experiment</a:t>
            </a:r>
          </a:p>
        </p:txBody>
      </p:sp>
      <p:sp>
        <p:nvSpPr>
          <p:cNvPr id="83" name="insight-number-circle-1">
            <a:extLst xmlns:a="http://schemas.openxmlformats.org/drawingml/2006/main">
              <a:ext uri="{FF2B5EF4-FFF2-40B4-BE49-F238E27FC236}">
                <a16:creationId xmlns:a16="http://schemas.microsoft.com/office/drawing/2014/main" id="{F852C8EB-4984-4485-9C33-515ED0D74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8004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D4A"/>
          </a:solidFill>
          <a:ln xmlns:a="http://schemas.openxmlformats.org/drawingml/2006/main" w="0">
            <a:solidFill>
              <a:srgbClr val="3E7D4A"/>
            </a:solidFill>
            <a:prstDash val="solid"/>
          </a:ln>
        </p:spPr>
      </p:sp>
      <p:sp>
        <p:nvSpPr>
          <p:cNvPr id="84" name="insight-number-1">
            <a:extLst xmlns:a="http://schemas.openxmlformats.org/drawingml/2006/main">
              <a:ext uri="{FF2B5EF4-FFF2-40B4-BE49-F238E27FC236}">
                <a16:creationId xmlns:a16="http://schemas.microsoft.com/office/drawing/2014/main" id="{D3CA7750-6A40-43A6-8064-C578F8F7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810000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5" name="insight-title-1">
            <a:extLst xmlns:a="http://schemas.openxmlformats.org/drawingml/2006/main">
              <a:ext uri="{FF2B5EF4-FFF2-40B4-BE49-F238E27FC236}">
                <a16:creationId xmlns:a16="http://schemas.microsoft.com/office/drawing/2014/main" id="{A2F4ADD5-8D48-4F13-96B1-5A34EC44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771900"/>
            <a:ext cx="4667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B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B63"/>
                </a:solidFill>
                <a:latin typeface="Aptos"/>
                <a:ea typeface="Aptos"/>
                <a:cs typeface="Aptos"/>
              </a:rPr>
              <a:t>Verification adds measurable value</a:t>
            </a:r>
          </a:p>
        </p:txBody>
      </p:sp>
      <p:sp>
        <p:nvSpPr>
          <p:cNvPr id="86" name="insight-body-1">
            <a:extLst xmlns:a="http://schemas.openxmlformats.org/drawingml/2006/main">
              <a:ext uri="{FF2B5EF4-FFF2-40B4-BE49-F238E27FC236}">
                <a16:creationId xmlns:a16="http://schemas.microsoft.com/office/drawing/2014/main" id="{BFFDAFA9-500F-4F1A-9161-1731B02B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029075"/>
            <a:ext cx="466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0283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02830"/>
                </a:solidFill>
                <a:latin typeface="Aptos"/>
                <a:ea typeface="Aptos"/>
                <a:cs typeface="Aptos"/>
              </a:rPr>
              <a:t>Both oracle variants improved the same generator's final pass@1.</a:t>
            </a:r>
          </a:p>
        </p:txBody>
      </p:sp>
      <p:sp>
        <p:nvSpPr>
          <p:cNvPr id="87" name="insight-number-circle-2">
            <a:extLst xmlns:a="http://schemas.openxmlformats.org/drawingml/2006/main">
              <a:ext uri="{FF2B5EF4-FFF2-40B4-BE49-F238E27FC236}">
                <a16:creationId xmlns:a16="http://schemas.microsoft.com/office/drawing/2014/main" id="{071A2BFB-B8D8-4A6A-B630-B688980D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514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D4A"/>
          </a:solidFill>
          <a:ln xmlns:a="http://schemas.openxmlformats.org/drawingml/2006/main" w="0">
            <a:solidFill>
              <a:srgbClr val="3E7D4A"/>
            </a:solidFill>
            <a:prstDash val="solid"/>
          </a:ln>
        </p:spPr>
      </p:sp>
      <p:sp>
        <p:nvSpPr>
          <p:cNvPr id="88" name="insight-number-2">
            <a:extLst xmlns:a="http://schemas.openxmlformats.org/drawingml/2006/main">
              <a:ext uri="{FF2B5EF4-FFF2-40B4-BE49-F238E27FC236}">
                <a16:creationId xmlns:a16="http://schemas.microsoft.com/office/drawing/2014/main" id="{B77A6842-DEE0-41C6-A15A-42F710B6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524375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89" name="insight-title-2">
            <a:extLst xmlns:a="http://schemas.openxmlformats.org/drawingml/2006/main">
              <a:ext uri="{FF2B5EF4-FFF2-40B4-BE49-F238E27FC236}">
                <a16:creationId xmlns:a16="http://schemas.microsoft.com/office/drawing/2014/main" id="{03CE9A6B-6235-4651-8762-AE2B6E45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486275"/>
            <a:ext cx="4667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B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B63"/>
                </a:solidFill>
                <a:latin typeface="Aptos"/>
                <a:ea typeface="Aptos"/>
                <a:cs typeface="Aptos"/>
              </a:rPr>
              <a:t>Family diversity was not automatically superior</a:t>
            </a:r>
          </a:p>
        </p:txBody>
      </p:sp>
      <p:sp>
        <p:nvSpPr>
          <p:cNvPr id="90" name="insight-body-2">
            <a:extLst xmlns:a="http://schemas.openxmlformats.org/drawingml/2006/main">
              <a:ext uri="{FF2B5EF4-FFF2-40B4-BE49-F238E27FC236}">
                <a16:creationId xmlns:a16="http://schemas.microsoft.com/office/drawing/2014/main" id="{962F094A-EAE8-4718-A85A-F42EDFDC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743450"/>
            <a:ext cx="466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0283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02830"/>
                </a:solidFill>
                <a:latin typeface="Aptos"/>
                <a:ea typeface="Aptos"/>
                <a:cs typeface="Aptos"/>
              </a:rPr>
              <a:t>Qwen oracle reached 60% vs DeepSeek at 58%; capability mattered more in this run.</a:t>
            </a:r>
          </a:p>
        </p:txBody>
      </p:sp>
      <p:sp>
        <p:nvSpPr>
          <p:cNvPr id="91" name="insight-number-circle-3">
            <a:extLst xmlns:a="http://schemas.openxmlformats.org/drawingml/2006/main">
              <a:ext uri="{FF2B5EF4-FFF2-40B4-BE49-F238E27FC236}">
                <a16:creationId xmlns:a16="http://schemas.microsoft.com/office/drawing/2014/main" id="{AF396D14-F394-4072-B35A-3E4F18AA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5314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D4A"/>
          </a:solidFill>
          <a:ln xmlns:a="http://schemas.openxmlformats.org/drawingml/2006/main" w="0">
            <a:solidFill>
              <a:srgbClr val="3E7D4A"/>
            </a:solidFill>
            <a:prstDash val="solid"/>
          </a:ln>
        </p:spPr>
      </p:sp>
      <p:sp>
        <p:nvSpPr>
          <p:cNvPr id="92" name="insight-number-3">
            <a:extLst xmlns:a="http://schemas.openxmlformats.org/drawingml/2006/main">
              <a:ext uri="{FF2B5EF4-FFF2-40B4-BE49-F238E27FC236}">
                <a16:creationId xmlns:a16="http://schemas.microsoft.com/office/drawing/2014/main" id="{BDE9C509-96A5-425E-A88B-744DA5CC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5324475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93" name="insight-title-3">
            <a:extLst xmlns:a="http://schemas.openxmlformats.org/drawingml/2006/main">
              <a:ext uri="{FF2B5EF4-FFF2-40B4-BE49-F238E27FC236}">
                <a16:creationId xmlns:a16="http://schemas.microsoft.com/office/drawing/2014/main" id="{EC253022-6FB9-4835-8E2A-45EFA01F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5286375"/>
            <a:ext cx="4667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B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B63"/>
                </a:solidFill>
                <a:latin typeface="Aptos"/>
                <a:ea typeface="Aptos"/>
                <a:cs typeface="Aptos"/>
              </a:rPr>
              <a:t>Strengthen evidence beyond agent agreement</a:t>
            </a:r>
          </a:p>
        </p:txBody>
      </p:sp>
      <p:sp>
        <p:nvSpPr>
          <p:cNvPr id="94" name="insight-body-3">
            <a:extLst xmlns:a="http://schemas.openxmlformats.org/drawingml/2006/main">
              <a:ext uri="{FF2B5EF4-FFF2-40B4-BE49-F238E27FC236}">
                <a16:creationId xmlns:a16="http://schemas.microsoft.com/office/drawing/2014/main" id="{6B854E77-A171-4521-82FA-15090EF3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5543550"/>
            <a:ext cx="466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0283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02830"/>
                </a:solidFill>
                <a:latin typeface="Aptos"/>
                <a:ea typeface="Aptos"/>
                <a:cs typeface="Aptos"/>
              </a:rPr>
              <a:t>Next: directed + metamorphic tests, coverage feedback, bounded formal checks, and executable cycle-accurate Python references.</a:t>
            </a:r>
          </a:p>
        </p:txBody>
      </p:sp>
    </p:spTree>
    <p:extLst>
      <p:ext uri="{BB962C8B-B14F-4D97-AF65-F5344CB8AC3E}">
        <p14:creationId xmlns:p14="http://schemas.microsoft.com/office/powerpoint/2010/main" val="4050261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2026-07-22T10:16:07.9890000Z</dcterms:created>
  <dcterms:modified xsi:type="dcterms:W3CDTF">2026-07-22T10:16:07.9890000Z</dcterms:modified>
</coreProperties>
</file>